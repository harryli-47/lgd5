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416" r:id="rId5"/>
    <p:sldId id="426" r:id="rId6"/>
    <p:sldId id="425" r:id="rId7"/>
    <p:sldId id="444" r:id="rId8"/>
    <p:sldId id="432" r:id="rId9"/>
    <p:sldId id="443" r:id="rId10"/>
    <p:sldId id="436" r:id="rId11"/>
    <p:sldId id="445" r:id="rId12"/>
    <p:sldId id="446" r:id="rId13"/>
    <p:sldId id="417" r:id="rId14"/>
    <p:sldId id="435" r:id="rId15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, Harry" initials="L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D1C24"/>
    <a:srgbClr val="FF00FF"/>
    <a:srgbClr val="FF99FF"/>
    <a:srgbClr val="99FF66"/>
    <a:srgbClr val="0079C1"/>
    <a:srgbClr val="6E6E6E"/>
    <a:srgbClr val="C8C8C8"/>
    <a:srgbClr val="CCE4F3"/>
    <a:srgbClr val="99C9E6"/>
    <a:srgbClr val="66A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63" autoAdjust="0"/>
    <p:restoredTop sz="94842" autoAdjust="0"/>
  </p:normalViewPr>
  <p:slideViewPr>
    <p:cSldViewPr snapToObjects="1">
      <p:cViewPr varScale="1">
        <p:scale>
          <a:sx n="137" d="100"/>
          <a:sy n="137" d="100"/>
        </p:scale>
        <p:origin x="1886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C078DB2-3BD9-A64E-9A59-E5BDFD1A272F}" type="datetimeFigureOut">
              <a:rPr lang="en-US" smtClean="0"/>
              <a:t>4/1/2020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A511CDE-9E68-3F49-A9B0-24A9A5FD92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288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C54BC96-B594-BD41-B8AB-96745BE59FB8}" type="datetimeFigureOut">
              <a:rPr lang="en-US" smtClean="0"/>
              <a:t>4/1/2020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040601-F34C-A840-B24C-52E51A825D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5542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MOFG_EN_cov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216"/>
            <a:ext cx="9144000" cy="1700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19201"/>
            <a:ext cx="8229600" cy="1523999"/>
          </a:xfrm>
        </p:spPr>
        <p:txBody>
          <a:bodyPr anchor="b" anchorCtr="0"/>
          <a:lstStyle>
            <a:lvl1pPr>
              <a:defRPr sz="4200" b="0">
                <a:solidFill>
                  <a:srgbClr val="0079C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352799"/>
            <a:ext cx="5943600" cy="83820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5854700"/>
            <a:ext cx="2286000" cy="5016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657600" cy="609600"/>
          </a:xfrm>
        </p:spPr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Line 19"/>
          <p:cNvSpPr>
            <a:spLocks noChangeShapeType="1"/>
          </p:cNvSpPr>
          <p:nvPr userDrawn="1"/>
        </p:nvSpPr>
        <p:spPr bwMode="auto">
          <a:xfrm>
            <a:off x="457200" y="3048000"/>
            <a:ext cx="8229600" cy="0"/>
          </a:xfrm>
          <a:prstGeom prst="line">
            <a:avLst/>
          </a:prstGeom>
          <a:noFill/>
          <a:ln w="9525">
            <a:solidFill>
              <a:srgbClr val="CACAC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11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E_6_Save4Web_Maximu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87696"/>
          </a:xfrm>
          <a:prstGeom prst="rect">
            <a:avLst/>
          </a:prstGeom>
        </p:spPr>
      </p:pic>
      <p:sp>
        <p:nvSpPr>
          <p:cNvPr id="7" name="Oval 6"/>
          <p:cNvSpPr/>
          <p:nvPr userDrawn="1"/>
        </p:nvSpPr>
        <p:spPr>
          <a:xfrm>
            <a:off x="4038600" y="2626112"/>
            <a:ext cx="3429000" cy="3429000"/>
          </a:xfrm>
          <a:prstGeom prst="ellipse">
            <a:avLst/>
          </a:prstGeom>
          <a:solidFill>
            <a:srgbClr val="0079C1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BMOFG_EN_cove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216"/>
            <a:ext cx="9144000" cy="1700784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468901" y="288832"/>
            <a:ext cx="4587968" cy="4587968"/>
            <a:chOff x="-304800" y="288832"/>
            <a:chExt cx="4587968" cy="4587968"/>
          </a:xfrm>
        </p:grpSpPr>
        <p:sp>
          <p:nvSpPr>
            <p:cNvPr id="9" name="Oval 8"/>
            <p:cNvSpPr/>
            <p:nvPr userDrawn="1"/>
          </p:nvSpPr>
          <p:spPr>
            <a:xfrm>
              <a:off x="-238054" y="370275"/>
              <a:ext cx="4419600" cy="4419600"/>
            </a:xfrm>
            <a:prstGeom prst="ellipse">
              <a:avLst/>
            </a:prstGeom>
            <a:solidFill>
              <a:srgbClr val="ED1C24">
                <a:alpha val="8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 userDrawn="1"/>
          </p:nvSpPr>
          <p:spPr>
            <a:xfrm>
              <a:off x="-304800" y="288832"/>
              <a:ext cx="4587968" cy="4587968"/>
            </a:xfrm>
            <a:prstGeom prst="ellipse">
              <a:avLst/>
            </a:prstGeom>
            <a:noFill/>
            <a:ln w="127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219201"/>
            <a:ext cx="3124199" cy="2666999"/>
          </a:xfrm>
        </p:spPr>
        <p:txBody>
          <a:bodyPr/>
          <a:lstStyle>
            <a:lvl1pPr>
              <a:defRPr sz="3200" b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5854700"/>
            <a:ext cx="2286000" cy="5016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657600" cy="609600"/>
          </a:xfrm>
        </p:spPr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5057" y="3733799"/>
            <a:ext cx="2219254" cy="914401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121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irl_5_Save4Web_High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81600"/>
          </a:xfrm>
          <a:prstGeom prst="rect">
            <a:avLst/>
          </a:prstGeom>
        </p:spPr>
      </p:pic>
      <p:pic>
        <p:nvPicPr>
          <p:cNvPr id="12" name="Picture 11" descr="BMOFG_EN_cove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216"/>
            <a:ext cx="9144000" cy="1700784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-304800" y="288832"/>
            <a:ext cx="4587968" cy="4587968"/>
            <a:chOff x="-304800" y="288832"/>
            <a:chExt cx="4587968" cy="4587968"/>
          </a:xfrm>
        </p:grpSpPr>
        <p:sp>
          <p:nvSpPr>
            <p:cNvPr id="9" name="Oval 8"/>
            <p:cNvSpPr/>
            <p:nvPr userDrawn="1"/>
          </p:nvSpPr>
          <p:spPr>
            <a:xfrm>
              <a:off x="-238054" y="370275"/>
              <a:ext cx="4419600" cy="4419600"/>
            </a:xfrm>
            <a:prstGeom prst="ellipse">
              <a:avLst/>
            </a:prstGeom>
            <a:solidFill>
              <a:srgbClr val="ED1C24">
                <a:alpha val="8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 userDrawn="1"/>
          </p:nvSpPr>
          <p:spPr>
            <a:xfrm>
              <a:off x="-304800" y="288832"/>
              <a:ext cx="4587968" cy="4587968"/>
            </a:xfrm>
            <a:prstGeom prst="ellipse">
              <a:avLst/>
            </a:prstGeom>
            <a:noFill/>
            <a:ln w="127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19201"/>
            <a:ext cx="3124199" cy="1981200"/>
          </a:xfrm>
        </p:spPr>
        <p:txBody>
          <a:bodyPr/>
          <a:lstStyle>
            <a:lvl1pPr>
              <a:defRPr sz="3200" b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352799"/>
            <a:ext cx="3124200" cy="6095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5854700"/>
            <a:ext cx="2286000" cy="5016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657600" cy="609600"/>
          </a:xfrm>
        </p:spPr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2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Large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7" name="Picture 6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8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rge 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3962400" cy="49831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724400" y="1144710"/>
            <a:ext cx="3962400" cy="49831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1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mall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700"/>
              </a:spcBef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200"/>
            </a:lvl4pPr>
            <a:lvl5pPr>
              <a:spcBef>
                <a:spcPts val="6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1" name="Picture 10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5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3962400" cy="4983163"/>
          </a:xfrm>
        </p:spPr>
        <p:txBody>
          <a:bodyPr/>
          <a:lstStyle>
            <a:lvl1pPr>
              <a:spcBef>
                <a:spcPts val="700"/>
              </a:spcBef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200"/>
            </a:lvl4pPr>
            <a:lvl5pPr>
              <a:spcBef>
                <a:spcPts val="6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713944" y="1143000"/>
            <a:ext cx="3962400" cy="4983163"/>
          </a:xfrm>
        </p:spPr>
        <p:txBody>
          <a:bodyPr/>
          <a:lstStyle>
            <a:lvl1pPr>
              <a:spcBef>
                <a:spcPts val="700"/>
              </a:spcBef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200"/>
            </a:lvl4pPr>
            <a:lvl5pPr>
              <a:spcBef>
                <a:spcPts val="6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Arial"/>
              <a:buNone/>
              <a:defRPr sz="1000"/>
            </a:lvl1pPr>
            <a:lvl2pPr marL="0" indent="0">
              <a:spcBef>
                <a:spcPts val="1000"/>
              </a:spcBef>
              <a:buNone/>
              <a:defRPr sz="1000"/>
            </a:lvl2pPr>
            <a:lvl3pPr marL="0" indent="0">
              <a:spcBef>
                <a:spcPts val="1000"/>
              </a:spcBef>
              <a:buNone/>
              <a:defRPr sz="1000"/>
            </a:lvl3pPr>
            <a:lvl4pPr marL="0" indent="0">
              <a:spcBef>
                <a:spcPts val="1000"/>
              </a:spcBef>
              <a:buNone/>
              <a:defRPr sz="1000"/>
            </a:lvl4pPr>
            <a:lvl5pPr marL="0" indent="0">
              <a:spcBef>
                <a:spcPts val="1000"/>
              </a:spcBef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8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5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0" y="6248400"/>
            <a:ext cx="457200" cy="609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/>
              </a:defRPr>
            </a:lvl1pPr>
          </a:lstStyle>
          <a:p>
            <a:fld id="{86AB923B-19CD-554A-A7CB-5C782A182C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248400"/>
            <a:ext cx="3657600" cy="609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/>
              </a:defRPr>
            </a:lvl1pPr>
          </a:lstStyle>
          <a:p>
            <a:r>
              <a:rPr lang="en-US" dirty="0"/>
              <a:t>Footer goes here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514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1" r:id="rId2"/>
    <p:sldLayoutId id="2147483649" r:id="rId3"/>
    <p:sldLayoutId id="2147483650" r:id="rId4"/>
    <p:sldLayoutId id="2147483654" r:id="rId5"/>
    <p:sldLayoutId id="2147483653" r:id="rId6"/>
    <p:sldLayoutId id="2147483655" r:id="rId7"/>
    <p:sldLayoutId id="2147483656" r:id="rId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rgbClr val="0079C1"/>
          </a:solidFill>
          <a:latin typeface="Arial"/>
          <a:ea typeface="+mj-ea"/>
          <a:cs typeface="Arial"/>
        </a:defRPr>
      </a:lvl1pPr>
    </p:titleStyle>
    <p:bodyStyle>
      <a:lvl1pPr marL="225425" indent="-225425" algn="l" defTabSz="457200" rtl="0" eaLnBrk="1" latinLnBrk="0" hangingPunct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458788" indent="-233363" algn="l" defTabSz="457200" rtl="0" eaLnBrk="1" latinLnBrk="0" hangingPunct="1">
        <a:spcBef>
          <a:spcPts val="8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2pPr>
      <a:lvl3pPr marL="684213" indent="-225425" algn="l" defTabSz="457200" rtl="0" eaLnBrk="1" latinLnBrk="0" hangingPunct="1"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3pPr>
      <a:lvl4pPr marL="917575" indent="-233363" algn="l" defTabSz="457200" rtl="0" eaLnBrk="1" latinLnBrk="0" hangingPunct="1">
        <a:spcBef>
          <a:spcPts val="8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1143000" indent="-225425" algn="l" defTabSz="457200" rtl="0" eaLnBrk="1" latinLnBrk="0" hangingPunct="1">
        <a:spcBef>
          <a:spcPts val="8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F2019 Recalibration – D</a:t>
            </a:r>
            <a:r>
              <a:rPr lang="en-US" altLang="zh-CN" dirty="0"/>
              <a:t>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Calibrations scope: </a:t>
            </a:r>
          </a:p>
          <a:p>
            <a:pPr marL="225425" lvl="1" indent="0">
              <a:buNone/>
            </a:pPr>
            <a:r>
              <a:rPr lang="en-US" sz="1400" dirty="0"/>
              <a:t>Q4F19 Performance Monitoring Dataset : exclude M&amp;I pre-conversion facilities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marL="450850" lvl="2">
              <a:spcBef>
                <a:spcPts val="1000"/>
              </a:spcBef>
            </a:pPr>
            <a:r>
              <a:rPr lang="en-US" sz="1400" dirty="0"/>
              <a:t>T</a:t>
            </a:r>
            <a:r>
              <a:rPr lang="en-US" altLang="zh-CN" sz="1400" dirty="0"/>
              <a:t>he</a:t>
            </a:r>
            <a:r>
              <a:rPr lang="en-CA" altLang="zh-CN" sz="1400" dirty="0"/>
              <a:t> main calibration will be based on the abovementioned dataset.</a:t>
            </a:r>
            <a:endParaRPr lang="en-US" sz="1400" dirty="0"/>
          </a:p>
          <a:p>
            <a:pPr marL="450850" lvl="2">
              <a:spcBef>
                <a:spcPts val="1000"/>
              </a:spcBef>
            </a:pPr>
            <a:r>
              <a:rPr lang="en-US" sz="1400" dirty="0"/>
              <a:t>Separate calibration including the M&amp;I pre-conversion is </a:t>
            </a:r>
            <a:r>
              <a:rPr lang="en-US" altLang="zh-CN" sz="1400" dirty="0"/>
              <a:t>also </a:t>
            </a:r>
            <a:r>
              <a:rPr lang="en-US" sz="1400" dirty="0"/>
              <a:t>performed.</a:t>
            </a:r>
          </a:p>
          <a:p>
            <a:pPr marL="450850" lvl="2">
              <a:spcBef>
                <a:spcPts val="1000"/>
              </a:spcBef>
            </a:pP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0" lvl="1" indent="0">
              <a:spcBef>
                <a:spcPts val="1000"/>
              </a:spcBef>
              <a:buNone/>
            </a:pPr>
            <a:endParaRPr lang="en-US" sz="1800" dirty="0"/>
          </a:p>
          <a:p>
            <a:pPr marL="225425" lvl="1" indent="-225425">
              <a:spcBef>
                <a:spcPts val="1000"/>
              </a:spcBef>
              <a:buFont typeface="Arial"/>
              <a:buChar char="•"/>
            </a:pPr>
            <a:endParaRPr lang="en-US" sz="12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458599"/>
              </p:ext>
            </p:extLst>
          </p:nvPr>
        </p:nvGraphicFramePr>
        <p:xfrm>
          <a:off x="685800" y="2075141"/>
          <a:ext cx="7238999" cy="131055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178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0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Add/Exclusion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</a:rPr>
                        <a:t>Total facilities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4,331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BSM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-1,548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2,783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4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TF: IF &amp; SF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-55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2,728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1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Dealer Finance (BRR model)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-31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2,697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8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Resolved Realized LR LGD (70-100% LV Coverage)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dirty="0"/>
              <a:t>Resolved facilities with 70%-100% LV are grouped by collateral type.  </a:t>
            </a:r>
          </a:p>
          <a:p>
            <a:r>
              <a:rPr lang="en-US" sz="1200" dirty="0"/>
              <a:t>Only collateral type with more than 15 counts are kept for further calibration.</a:t>
            </a:r>
          </a:p>
          <a:p>
            <a:r>
              <a:rPr lang="en-US" sz="1200" dirty="0"/>
              <a:t>For subgroup “Blanket Lien (Assets &gt;= 10MM)” and “Commercial/Farm Properties- Other”, the count is scarce and ranking order is not intuitive. They will be calibrated at combined level.</a:t>
            </a:r>
          </a:p>
          <a:p>
            <a:r>
              <a:rPr lang="en-US" sz="1200" dirty="0"/>
              <a:t>For Fixed Assets/PP&amp;E, the count is also low with very low LGD. Judgement overlay will be applied.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873876"/>
              </p:ext>
            </p:extLst>
          </p:nvPr>
        </p:nvGraphicFramePr>
        <p:xfrm>
          <a:off x="533400" y="2590800"/>
          <a:ext cx="4876800" cy="3086100"/>
        </p:xfrm>
        <a:graphic>
          <a:graphicData uri="http://schemas.openxmlformats.org/drawingml/2006/table">
            <a:tbl>
              <a:tblPr/>
              <a:tblGrid>
                <a:gridCol w="3053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99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Primary Collateral Type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Realized LGD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A/R - Margined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37.1%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Blanket Lien (Assets &lt; 10MM)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21.2%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Blanket Lien (Assets &gt;= 10MM)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Blanket Lien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666249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Properties- 1st Charge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43.5%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Properties- Other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Commercial/Farm Properties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935609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Fixed Assets/PP&amp;E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R/E Constr. Projects/ADS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Residential Real Estate- 1st Charge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Unsecured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47.6%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2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Unresolved ,Downturn and Data Uncertainty Adjustment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Unresolved, Downturn and Data Uncertainty Adjustment are summarized at collateral group level.</a:t>
            </a:r>
          </a:p>
          <a:p>
            <a:r>
              <a:rPr lang="en-US" sz="1400" dirty="0"/>
              <a:t>Adjustments from F2018 are provided for side-by-side comparison.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244417"/>
              </p:ext>
            </p:extLst>
          </p:nvPr>
        </p:nvGraphicFramePr>
        <p:xfrm>
          <a:off x="685800" y="2286000"/>
          <a:ext cx="7086600" cy="222947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99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70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Primary Collateral Group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F2019 Unres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F2018 Unres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F2019 DT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F2018 DT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b="1" u="none" strike="noStrike" kern="1200" dirty="0">
                          <a:effectLst/>
                        </a:rPr>
                        <a:t>F2019 Data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b="1" u="none" strike="noStrike" kern="1200" dirty="0">
                          <a:effectLst/>
                        </a:rPr>
                        <a:t>F2018 Data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A/R - Margined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11.9%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6.6%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5.0%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Blanket Lien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>
                          <a:effectLst/>
                        </a:rPr>
                        <a:t>2.7%</a:t>
                      </a:r>
                      <a:endParaRPr 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3.9%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Commercial/Farm Properties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Fixed Assets/PP&amp;E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3.8%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4.3%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R/E Constr. Projects/ADS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2.8%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Residential Real Estate- 1st Charge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>
                          <a:effectLst/>
                        </a:rPr>
                        <a:t>4.2%</a:t>
                      </a:r>
                      <a:endParaRPr 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3.0%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Unsecured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10.9%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5.7%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08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Calibration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200" dirty="0"/>
              <a:t>* As for F2018, data is not sufficient for “Commercial/Farm Properties- Other” so the 60% is purely judgement based.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939093"/>
              </p:ext>
            </p:extLst>
          </p:nvPr>
        </p:nvGraphicFramePr>
        <p:xfrm>
          <a:off x="381000" y="1676400"/>
          <a:ext cx="8458198" cy="1841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79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50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Primary Collateral Type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Realized LGD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Unresolved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ata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Uncertainty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DT LGD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F2019 DT W Judgement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F2018 DT W Judgement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F2019-F2018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A/R - Margined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Blanket Lien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143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412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Fixed Assets/PP&amp;E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R/E Constr. Projects/ADS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162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60%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Residential Real Estate- 1st Charge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57.4%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Unsecured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47.6% 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99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LR and Unadjusted LGD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sz="1100" dirty="0"/>
              <a:t>Regression is ran on raw_elgd_05  with raw_elgd_10 to determine the relate adjustment from </a:t>
            </a:r>
            <a:r>
              <a:rPr lang="en-US" sz="1100" u="sng" dirty="0"/>
              <a:t>LR LGD </a:t>
            </a:r>
            <a:r>
              <a:rPr lang="en-US" sz="1100" dirty="0"/>
              <a:t>to </a:t>
            </a:r>
            <a:r>
              <a:rPr lang="en-US" sz="1100" u="sng" dirty="0"/>
              <a:t>Unadjusted LGD</a:t>
            </a:r>
            <a:r>
              <a:rPr lang="en-US" sz="1100" dirty="0"/>
              <a:t>.</a:t>
            </a:r>
          </a:p>
          <a:p>
            <a:r>
              <a:rPr lang="en-US" sz="1100" dirty="0"/>
              <a:t>raw_elgd_05 = -0.2%+0.85 * raw_elgd_10. This is equivalent to 15% discount.</a:t>
            </a:r>
          </a:p>
          <a:p>
            <a:r>
              <a:rPr lang="en-CA" sz="1100" dirty="0"/>
              <a:t>Unadjusted LGD factor for unsecured and Secured no lending value will be kept same as LR LGD factor.</a:t>
            </a:r>
            <a:endParaRPr lang="en-US" sz="11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5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8D760-2494-454D-9E50-8FFE28DA4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2195858"/>
            <a:ext cx="3429000" cy="3434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8E13C0-525B-42C9-AFCB-31805DA46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52248"/>
            <a:ext cx="4572000" cy="352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5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F2019 Recalibration – With Pre-Conversion M&amp;I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Calibrations scope: </a:t>
            </a:r>
          </a:p>
          <a:p>
            <a:pPr marL="225425" lvl="1" indent="0">
              <a:buNone/>
            </a:pPr>
            <a:r>
              <a:rPr lang="en-US" sz="1400" dirty="0"/>
              <a:t>Q4F19 Performance Monitoring Dataset  + F2017 M&amp;I post-conversion facilities</a:t>
            </a:r>
          </a:p>
          <a:p>
            <a:pPr marL="225425" lvl="1" indent="0">
              <a:buNone/>
            </a:pPr>
            <a:endParaRPr lang="en-US" sz="14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0" lvl="1" indent="0">
              <a:spcBef>
                <a:spcPts val="1000"/>
              </a:spcBef>
              <a:buNone/>
            </a:pPr>
            <a:endParaRPr lang="en-US" sz="1800" dirty="0"/>
          </a:p>
          <a:p>
            <a:pPr marL="225425" lvl="1" indent="-225425">
              <a:spcBef>
                <a:spcPts val="1000"/>
              </a:spcBef>
              <a:buFont typeface="Arial"/>
              <a:buChar char="•"/>
            </a:pPr>
            <a:endParaRPr lang="en-US" sz="12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075140"/>
          <a:ext cx="4724401" cy="183722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074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Add/Exclusion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</a:rPr>
                        <a:t>Total facilities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4,331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BSM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-1,548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2,783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-55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2,728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Dealer Finance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-31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2,697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M&amp;I Pre-conversion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4,435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58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BMO + Pre-Conversion M&amp;I:</a:t>
            </a:r>
            <a:br>
              <a:rPr lang="en-US" dirty="0"/>
            </a:br>
            <a:r>
              <a:rPr lang="en-US" dirty="0"/>
              <a:t>Resolved Realized LR LGD (70-100% LV Coverage)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Calibrations scope: </a:t>
            </a:r>
          </a:p>
          <a:p>
            <a:pPr marL="225425" lvl="1" indent="0">
              <a:buNone/>
            </a:pPr>
            <a:r>
              <a:rPr lang="en-US" sz="1400" dirty="0"/>
              <a:t>Q4F19 Performance Monitoring Dataset  + M&amp;I pre-conversion facilities</a:t>
            </a:r>
          </a:p>
          <a:p>
            <a:pPr marL="225425" lvl="1" indent="0">
              <a:buNone/>
            </a:pPr>
            <a:endParaRPr lang="en-US" sz="14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0" lvl="1" indent="0">
              <a:spcBef>
                <a:spcPts val="1000"/>
              </a:spcBef>
              <a:buNone/>
            </a:pPr>
            <a:endParaRPr lang="en-US" sz="1800" dirty="0"/>
          </a:p>
          <a:p>
            <a:pPr marL="225425" lvl="1" indent="-225425">
              <a:spcBef>
                <a:spcPts val="1000"/>
              </a:spcBef>
              <a:buFont typeface="Arial"/>
              <a:buChar char="•"/>
            </a:pPr>
            <a:endParaRPr lang="en-US" sz="12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C747E4-C133-4ED2-B97F-7E90B5F20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141815"/>
              </p:ext>
            </p:extLst>
          </p:nvPr>
        </p:nvGraphicFramePr>
        <p:xfrm>
          <a:off x="685800" y="1981200"/>
          <a:ext cx="6819901" cy="3522980"/>
        </p:xfrm>
        <a:graphic>
          <a:graphicData uri="http://schemas.openxmlformats.org/drawingml/2006/table">
            <a:tbl>
              <a:tblPr/>
              <a:tblGrid>
                <a:gridCol w="2436576">
                  <a:extLst>
                    <a:ext uri="{9D8B030D-6E8A-4147-A177-3AD203B41FA5}">
                      <a16:colId xmlns:a16="http://schemas.microsoft.com/office/drawing/2014/main" val="3885135408"/>
                    </a:ext>
                  </a:extLst>
                </a:gridCol>
                <a:gridCol w="741020">
                  <a:extLst>
                    <a:ext uri="{9D8B030D-6E8A-4147-A177-3AD203B41FA5}">
                      <a16:colId xmlns:a16="http://schemas.microsoft.com/office/drawing/2014/main" val="148027112"/>
                    </a:ext>
                  </a:extLst>
                </a:gridCol>
                <a:gridCol w="728461">
                  <a:extLst>
                    <a:ext uri="{9D8B030D-6E8A-4147-A177-3AD203B41FA5}">
                      <a16:colId xmlns:a16="http://schemas.microsoft.com/office/drawing/2014/main" val="1425165116"/>
                    </a:ext>
                  </a:extLst>
                </a:gridCol>
                <a:gridCol w="728461">
                  <a:extLst>
                    <a:ext uri="{9D8B030D-6E8A-4147-A177-3AD203B41FA5}">
                      <a16:colId xmlns:a16="http://schemas.microsoft.com/office/drawing/2014/main" val="3410275003"/>
                    </a:ext>
                  </a:extLst>
                </a:gridCol>
                <a:gridCol w="728461">
                  <a:extLst>
                    <a:ext uri="{9D8B030D-6E8A-4147-A177-3AD203B41FA5}">
                      <a16:colId xmlns:a16="http://schemas.microsoft.com/office/drawing/2014/main" val="1038275474"/>
                    </a:ext>
                  </a:extLst>
                </a:gridCol>
                <a:gridCol w="728461">
                  <a:extLst>
                    <a:ext uri="{9D8B030D-6E8A-4147-A177-3AD203B41FA5}">
                      <a16:colId xmlns:a16="http://schemas.microsoft.com/office/drawing/2014/main" val="1370858376"/>
                    </a:ext>
                  </a:extLst>
                </a:gridCol>
                <a:gridCol w="728461">
                  <a:extLst>
                    <a:ext uri="{9D8B030D-6E8A-4147-A177-3AD203B41FA5}">
                      <a16:colId xmlns:a16="http://schemas.microsoft.com/office/drawing/2014/main" val="3406425091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Primary Collateral Type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BMO+MI_PRE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BMO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Difference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135733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N Obs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N Obs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Count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59691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A/R - Margined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36.4%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37.1%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768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A/R - Not Margined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29909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Blanket Lien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24.7%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22.1%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74573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 - Unmargined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40364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 Equivalent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90109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Commercial/Farm Properties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498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43.6%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412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42.1%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05508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Fixed Assets/PP&amp;E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19.1%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16.2%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7084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Government Guaranteed Loans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9875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Inventories - Margined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24.9%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24.9%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55128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Inventories - Not Margined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14.3%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14.3%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18585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pt-BR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R/E Constr. Projects/ADS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47.2%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47.8%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10030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Residential Real Estate- 1st Charge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44.7%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45.0%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-0.3%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35448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Residential Real Estate- Other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8165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Secured - Security has Indeterminate Value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50.6%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23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Secured No Lending Value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5634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Unsecured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1,299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57.9%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47.6%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1,209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10.3%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5109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2,354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1,399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24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70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BMO + Pre-Conversion M&amp;I:</a:t>
            </a:r>
            <a:br>
              <a:rPr lang="en-US" dirty="0"/>
            </a:br>
            <a:r>
              <a:rPr lang="en-US" dirty="0"/>
              <a:t>Unresolved ,Downturn and Data Uncertainty Adjustment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Unresolved, Downturn and Data Uncertainty Adjustment are summarized by collateral group.</a:t>
            </a:r>
          </a:p>
          <a:p>
            <a:r>
              <a:rPr lang="en-US" sz="1400" dirty="0"/>
              <a:t>Adjustments from F2019 (BMO only) are provided as side-by-side comparison.</a:t>
            </a:r>
          </a:p>
          <a:p>
            <a:r>
              <a:rPr lang="en-US" sz="1400" dirty="0"/>
              <a:t>The DT adjustment will be floored at 0%.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043215"/>
              </p:ext>
            </p:extLst>
          </p:nvPr>
        </p:nvGraphicFramePr>
        <p:xfrm>
          <a:off x="457200" y="2427048"/>
          <a:ext cx="7848599" cy="249754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95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5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2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Primary Collateral Group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Unresolved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(w M&amp;I)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Unresolved (BMO)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(w M&amp;I)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DT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(BMO)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Data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(w M&amp;I)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Data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 (BMO)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6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A/R - Margined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11.9%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6.6%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6.6%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Blanket Lien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6.7%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2.7%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1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Commercial/Farm Properties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0.5%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6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Fixed Assets/PP&amp;E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3.5%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3.8%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-2.6% </a:t>
                      </a:r>
                      <a:r>
                        <a:rPr lang="en-CA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(0%)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4.1%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4.3%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6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R/E Constr. Projects/ADS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3.2%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14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Residential Real Estate- 1st Charge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3.8%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4.2%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6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Unsecured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-4.9% </a:t>
                      </a:r>
                      <a:r>
                        <a:rPr lang="en-CA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(0%)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CA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2.2%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5.7%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2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BMO + Pre-Conversion M&amp;I:</a:t>
            </a:r>
            <a:br>
              <a:rPr lang="en-US" dirty="0"/>
            </a:br>
            <a:r>
              <a:rPr lang="en-US" dirty="0"/>
              <a:t>Final Calibration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For all collateral types, DT LGD for BMO data only is higher when combining with pre-conversion M&amp;I.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78463"/>
              </p:ext>
            </p:extLst>
          </p:nvPr>
        </p:nvGraphicFramePr>
        <p:xfrm>
          <a:off x="551290" y="2057400"/>
          <a:ext cx="7602110" cy="1841500"/>
        </p:xfrm>
        <a:graphic>
          <a:graphicData uri="http://schemas.openxmlformats.org/drawingml/2006/table">
            <a:tbl>
              <a:tblPr/>
              <a:tblGrid>
                <a:gridCol w="199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7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9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Primary Collateral Type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Realized LGD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Unresolved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ata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Uncertainty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F2019 DT LGD</a:t>
                      </a:r>
                    </a:p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(With MI)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DT LGD (BMO)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A/R - Margined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36.4%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54.5%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Blanket Lien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161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37.1%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498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5.4%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51.3%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Fixed Assets/PP&amp;E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26.7%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R/E Constr. Projects/ADS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179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51.9%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Residential Real Estate- 1st Charge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52.1%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57.4%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Unsecured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1,299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60.2%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33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CN" dirty="0"/>
              <a:t>Appendix - Use 70% - 110% LV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sz="1100" dirty="0"/>
              <a:t>Total counts increase from 955 to 1,263 (32% more).</a:t>
            </a:r>
          </a:p>
          <a:p>
            <a:r>
              <a:rPr lang="en-US" sz="1100" dirty="0"/>
              <a:t>Majority of the count increase comes from Commercial Farm</a:t>
            </a:r>
          </a:p>
          <a:p>
            <a:r>
              <a:rPr lang="en-US" sz="1100" dirty="0"/>
              <a:t>Impacted collateral: </a:t>
            </a:r>
          </a:p>
          <a:p>
            <a:pPr lvl="1"/>
            <a:r>
              <a:rPr lang="en-US" sz="1000" dirty="0"/>
              <a:t>Commercial/Farm Properties: -3.1%</a:t>
            </a:r>
          </a:p>
          <a:p>
            <a:pPr lvl="1"/>
            <a:r>
              <a:rPr lang="en-US" sz="1000" dirty="0"/>
              <a:t>Unsecured: -3.7%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Although count increased 32% however, they’re concentrated in 2 to 3 collateral types and impact on LGD is not material, therefore the calibration is continued to be using 70%-100% LV.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5DA1BE-DBD8-42FA-AEA2-34CD70A6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1" y="3100676"/>
            <a:ext cx="5562600" cy="30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7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58200" cy="914400"/>
          </a:xfrm>
        </p:spPr>
        <p:txBody>
          <a:bodyPr/>
          <a:lstStyle/>
          <a:p>
            <a:r>
              <a:rPr lang="en-CA" dirty="0"/>
              <a:t>Appendix - Relative Adjustment Factors </a:t>
            </a:r>
            <a:r>
              <a:rPr lang="en-US" altLang="zh-CN" dirty="0"/>
              <a:t>using </a:t>
            </a:r>
            <a:r>
              <a:rPr lang="en-CA" altLang="zh-CN" dirty="0"/>
              <a:t>Simple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2"/>
            <a:ext cx="8229600" cy="5181598"/>
          </a:xfrm>
        </p:spPr>
        <p:txBody>
          <a:bodyPr/>
          <a:lstStyle/>
          <a:p>
            <a:r>
              <a:rPr lang="en-US" sz="1050" dirty="0"/>
              <a:t>Facilities are grouped by collateral type and raw_elgd_05 for each collateral type is calculated using simple average.</a:t>
            </a:r>
          </a:p>
          <a:p>
            <a:r>
              <a:rPr lang="en-US" sz="1050" dirty="0"/>
              <a:t>collateral type with more than 15 counts are highlighted.</a:t>
            </a:r>
          </a:p>
          <a:p>
            <a:r>
              <a:rPr lang="en-US" sz="1050" dirty="0"/>
              <a:t>Ranking orders are not intuitive for some collateral types, i.e. A/R margined vs. Not margined. Unsecured vs. RE ADS.</a:t>
            </a:r>
          </a:p>
          <a:p>
            <a:r>
              <a:rPr lang="en-US" sz="1050" dirty="0"/>
              <a:t>Judgement needs to be applied for those don’t have sufficient count.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CDCEB0-272B-4883-808E-11EE2F089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192535"/>
              </p:ext>
            </p:extLst>
          </p:nvPr>
        </p:nvGraphicFramePr>
        <p:xfrm>
          <a:off x="595313" y="2113537"/>
          <a:ext cx="4052886" cy="4096763"/>
        </p:xfrm>
        <a:graphic>
          <a:graphicData uri="http://schemas.openxmlformats.org/drawingml/2006/table">
            <a:tbl>
              <a:tblPr/>
              <a:tblGrid>
                <a:gridCol w="3063107">
                  <a:extLst>
                    <a:ext uri="{9D8B030D-6E8A-4147-A177-3AD203B41FA5}">
                      <a16:colId xmlns:a16="http://schemas.microsoft.com/office/drawing/2014/main" val="268510479"/>
                    </a:ext>
                  </a:extLst>
                </a:gridCol>
                <a:gridCol w="448005">
                  <a:extLst>
                    <a:ext uri="{9D8B030D-6E8A-4147-A177-3AD203B41FA5}">
                      <a16:colId xmlns:a16="http://schemas.microsoft.com/office/drawing/2014/main" val="263748453"/>
                    </a:ext>
                  </a:extLst>
                </a:gridCol>
                <a:gridCol w="541774">
                  <a:extLst>
                    <a:ext uri="{9D8B030D-6E8A-4147-A177-3AD203B41FA5}">
                      <a16:colId xmlns:a16="http://schemas.microsoft.com/office/drawing/2014/main" val="1234576845"/>
                    </a:ext>
                  </a:extLst>
                </a:gridCol>
              </a:tblGrid>
              <a:tr h="29873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Primary Collateral Type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N Obs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243783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A/R -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31.6%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36709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A/R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581134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Agriculture Livestock -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20.4%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970617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Agriculture Livestock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23.9%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02555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Blanket Lien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1703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 Equivalent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14.3%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28212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Commercial/Farm Properties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1115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88568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Crop Production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88624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Crops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900333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Fixed Assets/PP&amp;E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1159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Government Guaranteed Loans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39.9%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4717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Inventories -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16.6%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12266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Inventories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036429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Marketable Securities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37.4%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5411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Performance LC - Developer (Standalone)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60.8%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797099"/>
                  </a:ext>
                </a:extLst>
              </a:tr>
              <a:tr h="298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Performance LC - Developer (with Shared Construction Collateral)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48.8%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78549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Shares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45440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R/E Constr. Projects/ADS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37.3%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42719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Residential Real Estate- 1st Charge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220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28.2%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137666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Residential Real Estate- Other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095825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Secured No Lending Value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85584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Unsecured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35.6%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19708"/>
                  </a:ext>
                </a:extLst>
              </a:tr>
              <a:tr h="166662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2343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71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301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9C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spcBef>
            <a:spcPts val="1000"/>
          </a:spcBef>
          <a:defRPr sz="2000" dirty="0" smtClean="0"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MOFinancialGroup_En.potx" id="{6472DAB2-0AFD-4D8B-B753-8A8EBA257155}" vid="{2042CAE6-A444-434B-9227-BF782B8828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0D0453BBB50942B2FA986069C79B0C" ma:contentTypeVersion="0" ma:contentTypeDescription="Create a new document." ma:contentTypeScope="" ma:versionID="4974f6de6eb75fce95809ebc90fd60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BA9EE1-CAB8-4949-B4D9-C92DC20E6E7D}">
  <ds:schemaRefs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3806D73-C72D-4FBD-A6C0-0719BB2183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CC4844-D348-42C4-90C0-6518BB65F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24356</TotalTime>
  <Words>1816</Words>
  <Application>Microsoft Office PowerPoint</Application>
  <PresentationFormat>On-screen Show (4:3)</PresentationFormat>
  <Paragraphs>782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F2019 Recalibration – Data</vt:lpstr>
      <vt:lpstr>Resolved Realized LR LGD (70-100% LV Coverage)</vt:lpstr>
      <vt:lpstr> Unresolved ,Downturn and Data Uncertainty Adjustment </vt:lpstr>
      <vt:lpstr>Final Calibration Result</vt:lpstr>
      <vt:lpstr>LR and Unadjusted LGD factors</vt:lpstr>
      <vt:lpstr>F2019 Recalibration – With Pre-Conversion M&amp;I</vt:lpstr>
      <vt:lpstr>BMO + Pre-Conversion M&amp;I: Resolved Realized LR LGD (70-100% LV Coverage)</vt:lpstr>
      <vt:lpstr> BMO + Pre-Conversion M&amp;I: Unresolved ,Downturn and Data Uncertainty Adjustment </vt:lpstr>
      <vt:lpstr>BMO + Pre-Conversion M&amp;I: Final Calibration Result</vt:lpstr>
      <vt:lpstr>Appendix - Use 70% - 110% LV </vt:lpstr>
      <vt:lpstr>Appendix - Relative Adjustment Factors using Simple average</vt:lpstr>
    </vt:vector>
  </TitlesOfParts>
  <Company>Publicis Groupe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Wessinger</dc:creator>
  <cp:lastModifiedBy>Harry Li</cp:lastModifiedBy>
  <cp:revision>677</cp:revision>
  <cp:lastPrinted>2020-03-10T19:30:37Z</cp:lastPrinted>
  <dcterms:created xsi:type="dcterms:W3CDTF">2014-10-08T18:36:50Z</dcterms:created>
  <dcterms:modified xsi:type="dcterms:W3CDTF">2020-04-01T14:53:49Z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0x010100900D0453BBB50942B2FA986069C79B0C</vt:lpwstr>
  </property>
</Properties>
</file>