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15">
  <p:sldMasterIdLst>
    <p:sldMasterId id="2147485137" r:id="rId1"/>
  </p:sldMasterIdLst>
  <p:notesMasterIdLst>
    <p:notesMasterId r:id="rId10"/>
  </p:notesMasterIdLst>
  <p:handoutMasterIdLst>
    <p:handoutMasterId r:id="rId11"/>
  </p:handoutMasterIdLst>
  <p:sldIdLst>
    <p:sldId id="484" r:id="rId2"/>
    <p:sldId id="618" r:id="rId3"/>
    <p:sldId id="699" r:id="rId4"/>
    <p:sldId id="268" r:id="rId5"/>
    <p:sldId id="721" r:id="rId6"/>
    <p:sldId id="722" r:id="rId7"/>
    <p:sldId id="444" r:id="rId8"/>
    <p:sldId id="432" r:id="rId9"/>
  </p:sldIdLst>
  <p:sldSz cx="9144000" cy="6858000" type="screen4x3"/>
  <p:notesSz cx="7010400" cy="92964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74">
          <p15:clr>
            <a:srgbClr val="A4A3A4"/>
          </p15:clr>
        </p15:guide>
        <p15:guide id="2" orient="horz" pos="308">
          <p15:clr>
            <a:srgbClr val="A4A3A4"/>
          </p15:clr>
        </p15:guide>
        <p15:guide id="3" orient="horz" pos="2234">
          <p15:clr>
            <a:srgbClr val="A4A3A4"/>
          </p15:clr>
        </p15:guide>
        <p15:guide id="4" orient="horz" pos="3297">
          <p15:clr>
            <a:srgbClr val="A4A3A4"/>
          </p15:clr>
        </p15:guide>
        <p15:guide id="5" orient="horz" pos="3948">
          <p15:clr>
            <a:srgbClr val="A4A3A4"/>
          </p15:clr>
        </p15:guide>
        <p15:guide id="6" pos="5537">
          <p15:clr>
            <a:srgbClr val="A4A3A4"/>
          </p15:clr>
        </p15:guide>
        <p15:guide id="7" pos="2106">
          <p15:clr>
            <a:srgbClr val="A4A3A4"/>
          </p15:clr>
        </p15:guide>
        <p15:guide id="8" pos="96">
          <p15:clr>
            <a:srgbClr val="A4A3A4"/>
          </p15:clr>
        </p15:guide>
        <p15:guide id="9" pos="222">
          <p15:clr>
            <a:srgbClr val="A4A3A4"/>
          </p15:clr>
        </p15:guide>
        <p15:guide id="10" pos="335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CDDC"/>
    <a:srgbClr val="95BCDD"/>
    <a:srgbClr val="A2BBD0"/>
    <a:srgbClr val="9ACAF2"/>
    <a:srgbClr val="969696"/>
    <a:srgbClr val="5684AA"/>
    <a:srgbClr val="3366CC"/>
    <a:srgbClr val="166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0" autoAdjust="0"/>
    <p:restoredTop sz="96581" autoAdjust="0"/>
  </p:normalViewPr>
  <p:slideViewPr>
    <p:cSldViewPr>
      <p:cViewPr varScale="1">
        <p:scale>
          <a:sx n="82" d="100"/>
          <a:sy n="82" d="100"/>
        </p:scale>
        <p:origin x="1450" y="67"/>
      </p:cViewPr>
      <p:guideLst>
        <p:guide orient="horz" pos="3274"/>
        <p:guide orient="horz" pos="308"/>
        <p:guide orient="horz" pos="2234"/>
        <p:guide orient="horz" pos="3297"/>
        <p:guide orient="horz" pos="3948"/>
        <p:guide pos="5537"/>
        <p:guide pos="2106"/>
        <p:guide pos="96"/>
        <p:guide pos="222"/>
        <p:guide pos="33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6"/>
    </p:cViewPr>
  </p:sorterViewPr>
  <p:notesViewPr>
    <p:cSldViewPr>
      <p:cViewPr>
        <p:scale>
          <a:sx n="100" d="100"/>
          <a:sy n="100" d="100"/>
        </p:scale>
        <p:origin x="-1584" y="744"/>
      </p:cViewPr>
      <p:guideLst>
        <p:guide orient="horz" pos="2929"/>
        <p:guide pos="2208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867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552" tIns="42776" rIns="85552" bIns="42776" numCol="1" anchor="t" anchorCtr="0" compatLnSpc="1">
            <a:prstTxWarp prst="textNoShape">
              <a:avLst/>
            </a:prstTxWarp>
          </a:bodyPr>
          <a:lstStyle>
            <a:lvl1pPr defTabSz="855131">
              <a:defRPr b="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552" tIns="42776" rIns="85552" bIns="42776" numCol="1" anchor="t" anchorCtr="0" compatLnSpc="1">
            <a:prstTxWarp prst="textNoShape">
              <a:avLst/>
            </a:prstTxWarp>
          </a:bodyPr>
          <a:lstStyle>
            <a:lvl1pPr algn="r" defTabSz="855131">
              <a:defRPr b="0"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701675"/>
            <a:ext cx="464185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4838"/>
            <a:ext cx="5607050" cy="417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552" tIns="42776" rIns="85552" bIns="427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4438"/>
            <a:ext cx="303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552" tIns="42776" rIns="85552" bIns="42776" numCol="1" anchor="b" anchorCtr="0" compatLnSpc="1">
            <a:prstTxWarp prst="textNoShape">
              <a:avLst/>
            </a:prstTxWarp>
          </a:bodyPr>
          <a:lstStyle>
            <a:lvl1pPr algn="r" defTabSz="855131">
              <a:defRPr b="0"/>
            </a:lvl1pPr>
          </a:lstStyle>
          <a:p>
            <a:pPr>
              <a:defRPr/>
            </a:pPr>
            <a:fld id="{DDA3286A-A676-4234-ABBC-E125F48E7071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2652437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8524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1363" indent="-284163" defTabSz="8524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1413" indent="-227013" defTabSz="8524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598613" indent="-227013" defTabSz="8524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5813" indent="-227013" defTabSz="8524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3013" indent="-227013" defTabSz="8524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0213" indent="-227013" defTabSz="8524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7413" indent="-227013" defTabSz="8524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4613" indent="-227013" defTabSz="8524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7DCE433-6DB8-49C0-BBEC-799A42127787}" type="slidenum">
              <a:rPr lang="en-CA" altLang="en-US" smtClean="0"/>
              <a:pPr eaLnBrk="1" hangingPunct="1">
                <a:spcBef>
                  <a:spcPct val="0"/>
                </a:spcBef>
              </a:pPr>
              <a:t>0</a:t>
            </a:fld>
            <a:endParaRPr lang="en-CA" altLang="en-US" dirty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973513" y="8834438"/>
            <a:ext cx="303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52" tIns="42776" rIns="85552" bIns="42776" anchor="b"/>
          <a:lstStyle>
            <a:lvl1pPr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7B580A-6E7E-4FBB-8E2C-A5EB52FA7E9A}" type="slidenum">
              <a:rPr lang="en-CA" altLang="en-US" b="0"/>
              <a:pPr algn="r" eaLnBrk="1" hangingPunct="1">
                <a:spcBef>
                  <a:spcPct val="0"/>
                </a:spcBef>
              </a:pPr>
              <a:t>1</a:t>
            </a:fld>
            <a:endParaRPr lang="en-CA" altLang="en-US" b="0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973513" y="8834438"/>
            <a:ext cx="303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52" tIns="42776" rIns="85552" bIns="42776" anchor="b"/>
          <a:lstStyle>
            <a:lvl1pPr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7B580A-6E7E-4FBB-8E2C-A5EB52FA7E9A}" type="slidenum">
              <a:rPr lang="en-CA" altLang="en-US" b="0"/>
              <a:pPr algn="r" eaLnBrk="1" hangingPunct="1">
                <a:spcBef>
                  <a:spcPct val="0"/>
                </a:spcBef>
              </a:pPr>
              <a:t>2</a:t>
            </a:fld>
            <a:endParaRPr lang="en-CA" altLang="en-US" b="0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973513" y="8834438"/>
            <a:ext cx="303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52" tIns="42776" rIns="85552" bIns="42776" anchor="b"/>
          <a:lstStyle>
            <a:lvl1pPr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7B580A-6E7E-4FBB-8E2C-A5EB52FA7E9A}" type="slidenum">
              <a:rPr lang="en-CA" altLang="en-US" b="0"/>
              <a:pPr algn="r" eaLnBrk="1" hangingPunct="1">
                <a:spcBef>
                  <a:spcPct val="0"/>
                </a:spcBef>
              </a:pPr>
              <a:t>4</a:t>
            </a:fld>
            <a:endParaRPr lang="en-CA" altLang="en-US" b="0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1312648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973513" y="8834438"/>
            <a:ext cx="303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5552" tIns="42776" rIns="85552" bIns="42776" anchor="b"/>
          <a:lstStyle>
            <a:lvl1pPr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887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887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7B580A-6E7E-4FBB-8E2C-A5EB52FA7E9A}" type="slidenum">
              <a:rPr lang="en-CA" altLang="en-US" b="0"/>
              <a:pPr algn="r" eaLnBrk="1" hangingPunct="1">
                <a:spcBef>
                  <a:spcPct val="0"/>
                </a:spcBef>
              </a:pPr>
              <a:t>5</a:t>
            </a:fld>
            <a:endParaRPr lang="en-CA" altLang="en-US" b="0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</p:spTree>
    <p:extLst>
      <p:ext uri="{BB962C8B-B14F-4D97-AF65-F5344CB8AC3E}">
        <p14:creationId xmlns:p14="http://schemas.microsoft.com/office/powerpoint/2010/main" val="42237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86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88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83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60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21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97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96300" y="6469360"/>
            <a:ext cx="647700" cy="365125"/>
          </a:xfrm>
        </p:spPr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5429251" y="6502389"/>
            <a:ext cx="3038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 LGD R</a:t>
            </a:r>
            <a:r>
              <a:rPr lang="en-US" altLang="zh-CN" dirty="0">
                <a:solidFill>
                  <a:schemeClr val="bg1"/>
                </a:solidFill>
              </a:rPr>
              <a:t>ecalibration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7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7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70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78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6" descr="BMO_cover_4x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9" r="7352"/>
          <a:stretch>
            <a:fillRect/>
          </a:stretch>
        </p:blipFill>
        <p:spPr bwMode="auto">
          <a:xfrm>
            <a:off x="0" y="3175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72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2908E-D053-41CD-876B-976781E1E6C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927BD-20EB-410D-A770-73B0963C60B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2"/>
          <p:cNvGrpSpPr>
            <a:grpSpLocks/>
          </p:cNvGrpSpPr>
          <p:nvPr userDrawn="1"/>
        </p:nvGrpSpPr>
        <p:grpSpPr bwMode="auto">
          <a:xfrm>
            <a:off x="0" y="6369050"/>
            <a:ext cx="9144000" cy="498475"/>
            <a:chOff x="0" y="4012"/>
            <a:chExt cx="5760" cy="314"/>
          </a:xfrm>
        </p:grpSpPr>
        <p:sp>
          <p:nvSpPr>
            <p:cNvPr id="8" name="Rectangle 3"/>
            <p:cNvSpPr>
              <a:spLocks noChangeArrowheads="1"/>
            </p:cNvSpPr>
            <p:nvPr userDrawn="1"/>
          </p:nvSpPr>
          <p:spPr bwMode="gray">
            <a:xfrm>
              <a:off x="0" y="4013"/>
              <a:ext cx="5760" cy="307"/>
            </a:xfrm>
            <a:prstGeom prst="rect">
              <a:avLst/>
            </a:prstGeom>
            <a:solidFill>
              <a:srgbClr val="166AB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sz="12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r" eaLnBrk="1" hangingPunct="1">
                <a:defRPr/>
              </a:pPr>
              <a:endParaRPr lang="en-US" altLang="en-US" b="0" dirty="0"/>
            </a:p>
          </p:txBody>
        </p:sp>
        <p:sp>
          <p:nvSpPr>
            <p:cNvPr id="9" name="Line 4"/>
            <p:cNvSpPr>
              <a:spLocks noChangeShapeType="1"/>
            </p:cNvSpPr>
            <p:nvPr userDrawn="1"/>
          </p:nvSpPr>
          <p:spPr bwMode="gray">
            <a:xfrm>
              <a:off x="5365" y="4012"/>
              <a:ext cx="0" cy="31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Line 15"/>
          <p:cNvSpPr>
            <a:spLocks noChangeShapeType="1"/>
          </p:cNvSpPr>
          <p:nvPr userDrawn="1"/>
        </p:nvSpPr>
        <p:spPr bwMode="gray">
          <a:xfrm>
            <a:off x="0" y="588963"/>
            <a:ext cx="91440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gray">
          <a:xfrm>
            <a:off x="8537575" y="6410325"/>
            <a:ext cx="558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19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eaLnBrk="0" hangingPunct="0">
              <a:defRPr sz="12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2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2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defRPr/>
            </a:pPr>
            <a:fld id="{A3B30A00-D60B-4E63-A1BC-63C79DC8E166}" type="slidenum">
              <a:rPr lang="en-CA" altLang="en-US" sz="1400" b="0" smtClean="0">
                <a:solidFill>
                  <a:schemeClr val="bg1"/>
                </a:solidFill>
                <a:latin typeface="Dax-Regular"/>
              </a:rPr>
              <a:pPr algn="ctr" eaLnBrk="1" hangingPunct="1">
                <a:defRPr/>
              </a:pPr>
              <a:t>‹#›</a:t>
            </a:fld>
            <a:endParaRPr lang="en-CA" altLang="en-US" sz="1400" b="0" dirty="0">
              <a:solidFill>
                <a:schemeClr val="bg1"/>
              </a:solidFill>
              <a:latin typeface="Dax-Regular"/>
            </a:endParaRPr>
          </a:p>
        </p:txBody>
      </p:sp>
      <p:pic>
        <p:nvPicPr>
          <p:cNvPr id="12" name="Picture 10" descr="English-Logo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85738" y="6435725"/>
            <a:ext cx="215582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550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38" r:id="rId1"/>
    <p:sldLayoutId id="2147485139" r:id="rId2"/>
    <p:sldLayoutId id="2147485140" r:id="rId3"/>
    <p:sldLayoutId id="2147485141" r:id="rId4"/>
    <p:sldLayoutId id="2147485142" r:id="rId5"/>
    <p:sldLayoutId id="2147485143" r:id="rId6"/>
    <p:sldLayoutId id="2147485144" r:id="rId7"/>
    <p:sldLayoutId id="2147485145" r:id="rId8"/>
    <p:sldLayoutId id="2147485146" r:id="rId9"/>
    <p:sldLayoutId id="2147485147" r:id="rId10"/>
    <p:sldLayoutId id="2147485148" r:id="rId11"/>
    <p:sldLayoutId id="214748514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4"/>
          <p:cNvSpPr txBox="1">
            <a:spLocks noChangeArrowheads="1"/>
          </p:cNvSpPr>
          <p:nvPr/>
        </p:nvSpPr>
        <p:spPr bwMode="gray">
          <a:xfrm>
            <a:off x="1228725" y="1160462"/>
            <a:ext cx="679132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CA" altLang="en-US" sz="2600" b="0" dirty="0">
                <a:solidFill>
                  <a:schemeClr val="bg1"/>
                </a:solidFill>
                <a:latin typeface="Dax-Medium"/>
              </a:rPr>
              <a:t>Recalibration of </a:t>
            </a:r>
            <a:r>
              <a:rPr lang="en-US" altLang="en-US" sz="2600" b="0" dirty="0">
                <a:solidFill>
                  <a:schemeClr val="bg1"/>
                </a:solidFill>
                <a:latin typeface="Dax-Medium"/>
              </a:rPr>
              <a:t>US Commercial </a:t>
            </a:r>
          </a:p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600" b="0" dirty="0">
                <a:solidFill>
                  <a:schemeClr val="bg1"/>
                </a:solidFill>
                <a:latin typeface="Dax-Medium"/>
              </a:rPr>
              <a:t>Loss Given Default (LGD) Model </a:t>
            </a:r>
          </a:p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CA" altLang="en-US" sz="2600" b="0" dirty="0">
                <a:solidFill>
                  <a:schemeClr val="bg1"/>
                </a:solidFill>
                <a:latin typeface="Dax-Medium"/>
              </a:rPr>
              <a:t>Tollgate: Data, Analysis and Result</a:t>
            </a:r>
          </a:p>
        </p:txBody>
      </p:sp>
      <p:sp>
        <p:nvSpPr>
          <p:cNvPr id="3075" name="Text Box 39"/>
          <p:cNvSpPr txBox="1">
            <a:spLocks noChangeArrowheads="1"/>
          </p:cNvSpPr>
          <p:nvPr/>
        </p:nvSpPr>
        <p:spPr bwMode="gray">
          <a:xfrm>
            <a:off x="6475413" y="6432550"/>
            <a:ext cx="23764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Clr>
                <a:srgbClr val="9ACAF2"/>
              </a:buClr>
              <a:buFont typeface="Dax-Medium"/>
              <a:buChar char=" "/>
            </a:pPr>
            <a:r>
              <a:rPr lang="en-US" altLang="en-US" sz="1400" b="0" dirty="0">
                <a:solidFill>
                  <a:schemeClr val="bg1"/>
                </a:solidFill>
                <a:latin typeface="Dax-Regular"/>
              </a:rPr>
              <a:t>April 6</a:t>
            </a:r>
            <a:r>
              <a:rPr lang="en-US" altLang="en-US" sz="1400" b="0" baseline="30000" dirty="0">
                <a:solidFill>
                  <a:schemeClr val="bg1"/>
                </a:solidFill>
                <a:latin typeface="Dax-Regular"/>
              </a:rPr>
              <a:t>th</a:t>
            </a:r>
            <a:r>
              <a:rPr lang="en-US" altLang="en-US" sz="1400" b="0" dirty="0">
                <a:solidFill>
                  <a:schemeClr val="bg1"/>
                </a:solidFill>
                <a:latin typeface="Dax-Regular"/>
              </a:rPr>
              <a:t>, 2020</a:t>
            </a:r>
            <a:endParaRPr lang="en-CA" altLang="en-US" sz="1400" b="0" dirty="0">
              <a:solidFill>
                <a:schemeClr val="bg1"/>
              </a:solidFill>
              <a:latin typeface="Dax-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en-US" sz="2200" b="0" dirty="0">
                <a:solidFill>
                  <a:srgbClr val="166AB0"/>
                </a:solidFill>
                <a:latin typeface="Dax-Medium"/>
              </a:rPr>
              <a:t>Background and Objectives</a:t>
            </a:r>
          </a:p>
        </p:txBody>
      </p:sp>
      <p:sp>
        <p:nvSpPr>
          <p:cNvPr id="4099" name="Rectangle 32"/>
          <p:cNvSpPr>
            <a:spLocks noChangeArrowheads="1"/>
          </p:cNvSpPr>
          <p:nvPr/>
        </p:nvSpPr>
        <p:spPr bwMode="gray">
          <a:xfrm>
            <a:off x="5340350" y="803275"/>
            <a:ext cx="3465513" cy="520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284163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50000"/>
              </a:lnSpc>
              <a:buClrTx/>
              <a:buFont typeface="Wingdings" pitchFamily="2" charset="2"/>
              <a:buNone/>
            </a:pPr>
            <a:endParaRPr lang="en-US" altLang="en-US" b="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ClrTx/>
              <a:buFontTx/>
              <a:buNone/>
            </a:pPr>
            <a:endParaRPr lang="en-CA" altLang="en-US" b="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b="0" dirty="0">
              <a:solidFill>
                <a:srgbClr val="006699"/>
              </a:solidFill>
              <a:latin typeface="Dax-Medium"/>
            </a:endParaRPr>
          </a:p>
        </p:txBody>
      </p:sp>
      <p:sp>
        <p:nvSpPr>
          <p:cNvPr id="4" name="TextBox 3"/>
          <p:cNvSpPr txBox="1">
            <a:spLocks noChangeAspect="1"/>
          </p:cNvSpPr>
          <p:nvPr/>
        </p:nvSpPr>
        <p:spPr>
          <a:xfrm>
            <a:off x="466725" y="746126"/>
            <a:ext cx="8229600" cy="54451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b="0" dirty="0"/>
              <a:t>The US Commercial LGD model is used to assign LGDs to the facilities of US Commercial borrowers that have total revenues less than USD $50MM and authorizations greater than $500M, or that rated on HIO or HPB model. Total exposures covered by this model as at January 31, 2019 were CAD$23Bn, and Risk-Weighted Asset was CAD$16Bn.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00" b="0" dirty="0"/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b="0" dirty="0"/>
              <a:t>The production US Commercial LGD model (V3.2) was implemented in F2016. In 2019, WCM submitted the V3.3 using the F2018 validation dataset. The model is still under review with MV.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400" b="0" dirty="0"/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400" b="0" dirty="0"/>
              <a:t>The objectives of the F2019 </a:t>
            </a:r>
            <a:r>
              <a:rPr lang="en-US" altLang="zh-CN" sz="1400" b="0" dirty="0"/>
              <a:t>recalibration</a:t>
            </a:r>
            <a:r>
              <a:rPr lang="en-CA" altLang="zh-CN" sz="1400" b="0" dirty="0"/>
              <a:t> of US Commercial LGD model </a:t>
            </a:r>
            <a:r>
              <a:rPr lang="en-US" sz="1400" b="0" dirty="0"/>
              <a:t>are as follows:</a:t>
            </a:r>
          </a:p>
          <a:p>
            <a:pPr marL="514350" lvl="2" indent="-2857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50000"/>
                </a:srgbClr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1400" b="0" kern="0" dirty="0">
                <a:solidFill>
                  <a:srgbClr val="000000"/>
                </a:solidFill>
                <a:cs typeface="Arial" panose="020B0604020202020204" pitchFamily="34" charset="0"/>
              </a:rPr>
              <a:t>Incorporate the additional default data till Q4F2019</a:t>
            </a:r>
          </a:p>
          <a:p>
            <a:pPr marL="514350" lvl="2" indent="-2857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50000"/>
                </a:srgbClr>
              </a:buClr>
              <a:buSzPct val="85000"/>
              <a:buFont typeface="Courier New" panose="02070309020205020404" pitchFamily="49" charset="0"/>
              <a:buChar char="o"/>
            </a:pPr>
            <a:r>
              <a:rPr lang="en-US" sz="1400" b="0" kern="0" dirty="0">
                <a:solidFill>
                  <a:srgbClr val="000000"/>
                </a:solidFill>
                <a:cs typeface="Arial" panose="020B0604020202020204" pitchFamily="34" charset="0"/>
              </a:rPr>
              <a:t>Perform fit-for-use analysis using combined BMO and M&amp;I pre-conversion data</a:t>
            </a:r>
          </a:p>
          <a:p>
            <a:pPr marL="514350" lvl="2" indent="-2857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50000"/>
                </a:srgbClr>
              </a:buClr>
              <a:buSzPct val="85000"/>
              <a:buFont typeface="Courier New" panose="02070309020205020404" pitchFamily="49" charset="0"/>
              <a:buChar char="o"/>
            </a:pPr>
            <a:endParaRPr lang="en-US" sz="1400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2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50000"/>
                </a:srgbClr>
              </a:buClr>
              <a:buSzPct val="85000"/>
            </a:pPr>
            <a:endParaRPr lang="en-US" sz="1400" b="0" kern="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87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en-US" sz="2200" b="0" dirty="0">
                <a:solidFill>
                  <a:srgbClr val="166AB0"/>
                </a:solidFill>
                <a:latin typeface="Dax-Medium"/>
              </a:rPr>
              <a:t>Default Dataset</a:t>
            </a:r>
          </a:p>
        </p:txBody>
      </p:sp>
      <p:sp>
        <p:nvSpPr>
          <p:cNvPr id="4099" name="Rectangle 32"/>
          <p:cNvSpPr>
            <a:spLocks noChangeArrowheads="1"/>
          </p:cNvSpPr>
          <p:nvPr/>
        </p:nvSpPr>
        <p:spPr bwMode="gray">
          <a:xfrm>
            <a:off x="5340350" y="803275"/>
            <a:ext cx="3465513" cy="520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284163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50000"/>
              </a:lnSpc>
              <a:buClrTx/>
              <a:buFont typeface="Wingdings" pitchFamily="2" charset="2"/>
              <a:buNone/>
            </a:pPr>
            <a:endParaRPr lang="en-US" altLang="en-US" b="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ClrTx/>
              <a:buFontTx/>
              <a:buNone/>
            </a:pPr>
            <a:endParaRPr lang="en-CA" altLang="en-US" b="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b="0" dirty="0">
              <a:solidFill>
                <a:srgbClr val="006699"/>
              </a:solidFill>
              <a:latin typeface="Dax-Medium"/>
            </a:endParaRPr>
          </a:p>
        </p:txBody>
      </p:sp>
      <p:sp>
        <p:nvSpPr>
          <p:cNvPr id="9" name="TextBox 8"/>
          <p:cNvSpPr txBox="1">
            <a:spLocks noChangeAspect="1"/>
          </p:cNvSpPr>
          <p:nvPr/>
        </p:nvSpPr>
        <p:spPr>
          <a:xfrm>
            <a:off x="466725" y="714920"/>
            <a:ext cx="8229600" cy="55944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1100" b="0" kern="0" dirty="0">
                <a:cs typeface="Arial" panose="020B0604020202020204" pitchFamily="34" charset="0"/>
              </a:rPr>
              <a:t>Q4</a:t>
            </a:r>
            <a:r>
              <a:rPr lang="en-US" sz="1100" b="0" kern="0" dirty="0">
                <a:solidFill>
                  <a:srgbClr val="000000"/>
                </a:solidFill>
                <a:cs typeface="Arial" panose="020B0604020202020204" pitchFamily="34" charset="0"/>
              </a:rPr>
              <a:t>F2019 performance monitoring dataset is used for the recalibration with 4,331 facilities in total.</a:t>
            </a: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1100" b="0" kern="0" dirty="0">
                <a:solidFill>
                  <a:srgbClr val="000000"/>
                </a:solidFill>
                <a:cs typeface="Arial" panose="020B0604020202020204" pitchFamily="34" charset="0"/>
              </a:rPr>
              <a:t>BSM filtering logic is applied as follows:</a:t>
            </a:r>
          </a:p>
          <a:p>
            <a:pPr marL="685800" lvl="2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§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Following two flags are used:</a:t>
            </a:r>
          </a:p>
          <a:p>
            <a:pPr marL="1143000" lvl="3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q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BSM Proxy (A): Auth_d1 &lt;= 1MM &amp; Sales_d1 &lt;= 10MM &amp; BRR model not in (IO</a:t>
            </a:r>
            <a:r>
              <a:rPr lang="en-CA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BD,LC) (A)</a:t>
            </a:r>
          </a:p>
          <a:p>
            <a:pPr marL="1143000" lvl="3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q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BSM flag identified by Data Team (B)</a:t>
            </a:r>
          </a:p>
          <a:p>
            <a:pPr marL="628650" lvl="2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Arial" panose="020B0604020202020204" pitchFamily="34" charset="0"/>
              <a:buChar char="•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Exclusion:</a:t>
            </a:r>
          </a:p>
          <a:p>
            <a:pPr marL="1085850" lvl="3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q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Facilities identified by both A and B: 552</a:t>
            </a:r>
          </a:p>
          <a:p>
            <a:pPr marL="1085850" lvl="3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q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Facilities identified by A but not found in B: 979</a:t>
            </a:r>
          </a:p>
          <a:p>
            <a:pPr marL="1085850" lvl="3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q"/>
            </a:pPr>
            <a:r>
              <a:rPr lang="en-US" sz="1050" b="0" kern="0" dirty="0">
                <a:solidFill>
                  <a:srgbClr val="000000"/>
                </a:solidFill>
                <a:cs typeface="Arial" panose="020B0604020202020204" pitchFamily="34" charset="0"/>
              </a:rPr>
              <a:t>Facilities identified by B but not by A: manual check 17 out of 22 are excluded</a:t>
            </a:r>
          </a:p>
          <a:p>
            <a:pPr marL="171450" lvl="1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1100" b="0" kern="0" dirty="0">
                <a:solidFill>
                  <a:srgbClr val="000000"/>
                </a:solidFill>
                <a:cs typeface="Arial" panose="020B0604020202020204" pitchFamily="34" charset="0"/>
              </a:rPr>
              <a:t>TF </a:t>
            </a:r>
            <a:r>
              <a:rPr lang="en-CA" sz="1100" b="0" kern="0" dirty="0">
                <a:solidFill>
                  <a:srgbClr val="000000"/>
                </a:solidFill>
                <a:cs typeface="Arial" panose="020B0604020202020204" pitchFamily="34" charset="0"/>
              </a:rPr>
              <a:t>and DF are excluded since they’ll be calibrated separately.</a:t>
            </a:r>
          </a:p>
          <a:p>
            <a:pPr marL="171450" lvl="1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1100" b="0" kern="0" dirty="0">
                <a:solidFill>
                  <a:srgbClr val="000000"/>
                </a:solidFill>
                <a:cs typeface="Arial" panose="020B0604020202020204" pitchFamily="34" charset="0"/>
              </a:rPr>
              <a:t>Final dataset contains 2,697 facilities.</a:t>
            </a:r>
          </a:p>
          <a:p>
            <a:pPr marL="171450" lvl="1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685800" lvl="2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m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m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9748F-154E-422B-884F-E112CCBB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50" y="4673817"/>
            <a:ext cx="6840950" cy="1469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685E13-E910-4F28-ADAF-ADD0F46FA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40" y="3523620"/>
            <a:ext cx="3528490" cy="102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386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2976"/>
            <a:ext cx="8229600" cy="51831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INTERNAL  |  </a:t>
            </a:r>
            <a:r>
              <a:rPr lang="en-US" dirty="0"/>
              <a:t>WCM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819400" y="942975"/>
            <a:ext cx="6119813" cy="373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282575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None/>
              <a:defRPr/>
            </a:pPr>
            <a:r>
              <a:rPr lang="en-US" altLang="en-US" sz="1050" b="0" u="sng" dirty="0"/>
              <a:t>1. LR LGD Calibration</a:t>
            </a:r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When there is sufficient observation (≥15), calibration was based on the long-run (LR) realized loss from resolved defaults with primary collateral lending value coverage of 70-100%. </a:t>
            </a:r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For collaterals with &lt;15 observations, expert judgement is applied.</a:t>
            </a:r>
          </a:p>
          <a:p>
            <a:pPr marL="0" lvl="1" indent="0" eaLnBrk="1" hangingPunct="1">
              <a:spcBef>
                <a:spcPct val="0"/>
              </a:spcBef>
              <a:spcAft>
                <a:spcPts val="900"/>
              </a:spcAft>
              <a:buClrTx/>
              <a:buNone/>
              <a:defRPr/>
            </a:pPr>
            <a:endParaRPr lang="en-US" altLang="en-US" sz="1050" b="0" dirty="0"/>
          </a:p>
          <a:p>
            <a:pPr marL="0" lvl="1" indent="0" eaLnBrk="1" hangingPunct="1">
              <a:spcBef>
                <a:spcPct val="0"/>
              </a:spcBef>
              <a:spcAft>
                <a:spcPts val="900"/>
              </a:spcAft>
              <a:buClrTx/>
              <a:buNone/>
              <a:defRPr/>
            </a:pPr>
            <a:r>
              <a:rPr lang="en-US" altLang="en-US" sz="1050" b="0" u="sng" dirty="0"/>
              <a:t>2. Adjustments and MoCs</a:t>
            </a:r>
            <a:endParaRPr lang="en-US" altLang="en-US" sz="1050" b="0" dirty="0"/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Add unresolved adjustment (Beta1) to account for unresolved default impact.</a:t>
            </a:r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Add downturn adjustment (Beta2) and data uncertainty adjustment (Beta3)</a:t>
            </a:r>
          </a:p>
          <a:p>
            <a:pPr marL="0" lvl="1" indent="0" eaLnBrk="1" hangingPunct="1">
              <a:spcBef>
                <a:spcPct val="0"/>
              </a:spcBef>
              <a:spcAft>
                <a:spcPts val="900"/>
              </a:spcAft>
              <a:buClrTx/>
              <a:buNone/>
              <a:defRPr/>
            </a:pPr>
            <a:endParaRPr lang="en-US" altLang="en-US" sz="1050" b="0" u="sng" dirty="0"/>
          </a:p>
          <a:p>
            <a:pPr marL="0" lvl="1" indent="0" eaLnBrk="1" hangingPunct="1">
              <a:spcBef>
                <a:spcPct val="0"/>
              </a:spcBef>
              <a:spcAft>
                <a:spcPts val="900"/>
              </a:spcAft>
              <a:buClrTx/>
              <a:buNone/>
              <a:defRPr/>
            </a:pPr>
            <a:r>
              <a:rPr lang="en-US" altLang="en-US" sz="1050" b="0" u="sng" dirty="0"/>
              <a:t>3. Overlay to ensure intuitive LGD rank ordering</a:t>
            </a:r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Round to the nearest 5%</a:t>
            </a:r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2</a:t>
            </a:r>
            <a:r>
              <a:rPr lang="en-US" altLang="en-US" sz="1050" b="0" baseline="30000" dirty="0"/>
              <a:t>nd</a:t>
            </a:r>
            <a:r>
              <a:rPr lang="en-US" altLang="en-US" sz="1050" b="0" dirty="0"/>
              <a:t> charge should be higher than 1</a:t>
            </a:r>
            <a:r>
              <a:rPr lang="en-US" altLang="en-US" sz="1050" b="0" baseline="30000" dirty="0"/>
              <a:t>st</a:t>
            </a:r>
            <a:r>
              <a:rPr lang="en-US" altLang="en-US" sz="1050" b="0" dirty="0"/>
              <a:t> charge. Not Margined should be higher than margined</a:t>
            </a:r>
          </a:p>
          <a:p>
            <a:pPr lvl="1"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Char char="§"/>
              <a:defRPr/>
            </a:pPr>
            <a:r>
              <a:rPr lang="en-US" altLang="en-US" sz="1050" b="0" dirty="0"/>
              <a:t>Unsecured should be higher than Secured</a:t>
            </a:r>
          </a:p>
          <a:p>
            <a:pPr eaLnBrk="1" hangingPunct="1">
              <a:spcBef>
                <a:spcPct val="0"/>
              </a:spcBef>
              <a:spcAft>
                <a:spcPts val="900"/>
              </a:spcAft>
              <a:buClrTx/>
              <a:buFont typeface="Wingdings" pitchFamily="2" charset="2"/>
              <a:buNone/>
              <a:defRPr/>
            </a:pPr>
            <a:endParaRPr lang="en-US" altLang="en-US" sz="1050" b="0" i="1" u="sng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219200"/>
            <a:ext cx="1960562" cy="781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1. Calibrate LR realized LGD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59025"/>
            <a:ext cx="1960562" cy="781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2. Add adjustments for unresolved, downturn, and data uncertainty</a:t>
            </a:r>
          </a:p>
        </p:txBody>
      </p:sp>
      <p:cxnSp>
        <p:nvCxnSpPr>
          <p:cNvPr id="9" name="Straight Arrow Connector 8"/>
          <p:cNvCxnSpPr>
            <a:stCxn id="7" idx="2"/>
            <a:endCxn id="8" idx="0"/>
          </p:cNvCxnSpPr>
          <p:nvPr/>
        </p:nvCxnSpPr>
        <p:spPr>
          <a:xfrm>
            <a:off x="1438275" y="2000250"/>
            <a:ext cx="0" cy="3587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565525"/>
            <a:ext cx="1960562" cy="7810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3. Rounding and rank ordering overlay</a:t>
            </a:r>
          </a:p>
        </p:txBody>
      </p:sp>
      <p:cxnSp>
        <p:nvCxnSpPr>
          <p:cNvPr id="11" name="Straight Arrow Connector 10"/>
          <p:cNvCxnSpPr>
            <a:stCxn id="8" idx="2"/>
            <a:endCxn id="10" idx="0"/>
          </p:cNvCxnSpPr>
          <p:nvPr/>
        </p:nvCxnSpPr>
        <p:spPr>
          <a:xfrm>
            <a:off x="1438275" y="3140075"/>
            <a:ext cx="0" cy="4254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">
            <a:extLst>
              <a:ext uri="{FF2B5EF4-FFF2-40B4-BE49-F238E27FC236}">
                <a16:creationId xmlns:a16="http://schemas.microsoft.com/office/drawing/2014/main" id="{B5252CAE-13ED-4249-A640-56D34C9DFB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en-US" sz="2200" b="0" dirty="0">
                <a:solidFill>
                  <a:srgbClr val="166AB0"/>
                </a:solidFill>
                <a:latin typeface="Dax-Medium"/>
              </a:rPr>
              <a:t>Calibration Steps</a:t>
            </a:r>
          </a:p>
        </p:txBody>
      </p:sp>
    </p:spTree>
    <p:extLst>
      <p:ext uri="{BB962C8B-B14F-4D97-AF65-F5344CB8AC3E}">
        <p14:creationId xmlns:p14="http://schemas.microsoft.com/office/powerpoint/2010/main" val="111011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en-US" sz="2200" b="0" dirty="0">
                <a:solidFill>
                  <a:srgbClr val="166AB0"/>
                </a:solidFill>
                <a:latin typeface="Dax-Medium"/>
              </a:rPr>
              <a:t>Calibrate LR realized LGD</a:t>
            </a:r>
          </a:p>
        </p:txBody>
      </p:sp>
      <p:sp>
        <p:nvSpPr>
          <p:cNvPr id="4099" name="Rectangle 32"/>
          <p:cNvSpPr>
            <a:spLocks noChangeArrowheads="1"/>
          </p:cNvSpPr>
          <p:nvPr/>
        </p:nvSpPr>
        <p:spPr bwMode="gray">
          <a:xfrm>
            <a:off x="5340350" y="803275"/>
            <a:ext cx="3465513" cy="520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284163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50000"/>
              </a:lnSpc>
              <a:buClrTx/>
              <a:buFont typeface="Wingdings" pitchFamily="2" charset="2"/>
              <a:buNone/>
            </a:pPr>
            <a:endParaRPr lang="en-US" altLang="en-US" b="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ClrTx/>
              <a:buFontTx/>
              <a:buNone/>
            </a:pPr>
            <a:endParaRPr lang="en-CA" altLang="en-US" b="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b="0" dirty="0">
              <a:solidFill>
                <a:srgbClr val="006699"/>
              </a:solidFill>
              <a:latin typeface="Dax-Medium"/>
            </a:endParaRPr>
          </a:p>
        </p:txBody>
      </p:sp>
      <p:sp>
        <p:nvSpPr>
          <p:cNvPr id="9" name="TextBox 8"/>
          <p:cNvSpPr txBox="1">
            <a:spLocks noChangeAspect="1"/>
          </p:cNvSpPr>
          <p:nvPr/>
        </p:nvSpPr>
        <p:spPr>
          <a:xfrm>
            <a:off x="466725" y="714920"/>
            <a:ext cx="8229600" cy="55944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Resolved Realized LR LGD (70-100% LV Coverage)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Resolved facilities with 70%-100% LV are grouped by collateral type.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Only collateral type with more than 15 counts are kept for further calibration.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For subgroup “Blanket Lien (Assets &gt;= 10MM)” and “Commercial/Farm Properties- Other”, the count is scarce and ranking order is not intuitive. Therefore, they’re calibrated at aggregate level.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For Fixed Assets/PP&amp;E, the count is also low with very low LGD. Judgement overlay will be applied.</a:t>
            </a:r>
          </a:p>
          <a:p>
            <a:endParaRPr lang="en-US" sz="1100" dirty="0"/>
          </a:p>
          <a:p>
            <a:endParaRPr lang="en-US" sz="1100" dirty="0"/>
          </a:p>
          <a:p>
            <a:pPr marL="685800" lvl="2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m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m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23A62C-2EEB-4EBF-8AF0-A4B100BEB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6091"/>
              </p:ext>
            </p:extLst>
          </p:nvPr>
        </p:nvGraphicFramePr>
        <p:xfrm>
          <a:off x="539440" y="1052670"/>
          <a:ext cx="7201705" cy="3086100"/>
        </p:xfrm>
        <a:graphic>
          <a:graphicData uri="http://schemas.openxmlformats.org/drawingml/2006/table">
            <a:tbl>
              <a:tblPr/>
              <a:tblGrid>
                <a:gridCol w="3412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77">
                  <a:extLst>
                    <a:ext uri="{9D8B030D-6E8A-4147-A177-3AD203B41FA5}">
                      <a16:colId xmlns:a16="http://schemas.microsoft.com/office/drawing/2014/main" val="524228169"/>
                    </a:ext>
                  </a:extLst>
                </a:gridCol>
                <a:gridCol w="1008140">
                  <a:extLst>
                    <a:ext uri="{9D8B030D-6E8A-4147-A177-3AD203B41FA5}">
                      <a16:colId xmlns:a16="http://schemas.microsoft.com/office/drawing/2014/main" val="461517391"/>
                    </a:ext>
                  </a:extLst>
                </a:gridCol>
                <a:gridCol w="1095581">
                  <a:extLst>
                    <a:ext uri="{9D8B030D-6E8A-4147-A177-3AD203B41FA5}">
                      <a16:colId xmlns:a16="http://schemas.microsoft.com/office/drawing/2014/main" val="8955464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Primary Collateral Type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F2018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</a:t>
                      </a:r>
                    </a:p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Realized LGD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F2018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Realized LGD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A/R - Margined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37.1%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Blanket Lien (Assets &lt; 10MM)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106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21.2%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36.0%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Blanket Lien (Assets &gt;= 10MM)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Blanket Lien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666249"/>
                  </a:ext>
                </a:extLst>
              </a:tr>
              <a:tr h="11116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Properties- 1st Charge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43.5%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Properties- Other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Commercial/Farm Properties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935609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Fixed Assets/PP&amp;E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R/E Constr. Projects/ADS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Residential Real Estate- 1st Charge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45.0%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44.8%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Unsecured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47.6%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55.8%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1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1,195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39.7%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55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200" b="0" dirty="0">
                <a:solidFill>
                  <a:srgbClr val="166AB0"/>
                </a:solidFill>
                <a:latin typeface="Dax-Medium"/>
              </a:rPr>
              <a:t>Unresolved ,Downturn and Data Uncertainty Adjustment</a:t>
            </a:r>
            <a:endParaRPr lang="en-CA" altLang="en-US" sz="2200" b="0" dirty="0">
              <a:solidFill>
                <a:srgbClr val="166AB0"/>
              </a:solidFill>
              <a:latin typeface="Dax-Medium"/>
            </a:endParaRPr>
          </a:p>
        </p:txBody>
      </p:sp>
      <p:sp>
        <p:nvSpPr>
          <p:cNvPr id="4099" name="Rectangle 32"/>
          <p:cNvSpPr>
            <a:spLocks noChangeArrowheads="1"/>
          </p:cNvSpPr>
          <p:nvPr/>
        </p:nvSpPr>
        <p:spPr bwMode="gray">
          <a:xfrm>
            <a:off x="5340350" y="803275"/>
            <a:ext cx="3465513" cy="520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284163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50000"/>
              </a:lnSpc>
              <a:buClrTx/>
              <a:buFont typeface="Wingdings" pitchFamily="2" charset="2"/>
              <a:buNone/>
            </a:pPr>
            <a:endParaRPr lang="en-US" altLang="en-US" b="0" dirty="0"/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ClrTx/>
              <a:buFontTx/>
              <a:buNone/>
            </a:pPr>
            <a:endParaRPr lang="en-CA" altLang="en-US" b="0" dirty="0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CA" altLang="en-US" b="0" dirty="0">
              <a:solidFill>
                <a:srgbClr val="006699"/>
              </a:solidFill>
              <a:latin typeface="Dax-Medium"/>
            </a:endParaRPr>
          </a:p>
        </p:txBody>
      </p:sp>
      <p:sp>
        <p:nvSpPr>
          <p:cNvPr id="9" name="TextBox 8"/>
          <p:cNvSpPr txBox="1">
            <a:spLocks noChangeAspect="1"/>
          </p:cNvSpPr>
          <p:nvPr/>
        </p:nvSpPr>
        <p:spPr>
          <a:xfrm>
            <a:off x="539440" y="764630"/>
            <a:ext cx="8229600" cy="559447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Unresolved, Downturn and Data Uncertainty Adjustment are calculated at collateral group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dirty="0"/>
              <a:t>Adjustments from F2018 calibration are provided for comparison. The changes from F2018 to F2019 are mostly due to the update on the BSM flag.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100" dirty="0"/>
          </a:p>
          <a:p>
            <a:pPr marL="685800" lvl="2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Ø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m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28600" lvl="1" indent="-22860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  <a:buFont typeface="Wingdings" panose="05000000000000000000" pitchFamily="2" charset="2"/>
              <a:buChar char="m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95BA6">
                  <a:lumMod val="75000"/>
                </a:srgbClr>
              </a:buClr>
              <a:buSzPct val="85000"/>
            </a:pPr>
            <a:endParaRPr lang="en-US" b="0" kern="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BE2542-B7C5-4CE3-87B8-BB8CED4D0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121699"/>
              </p:ext>
            </p:extLst>
          </p:nvPr>
        </p:nvGraphicFramePr>
        <p:xfrm>
          <a:off x="827480" y="1844780"/>
          <a:ext cx="7086600" cy="222947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99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70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Primary Collateral Group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F2019 Unres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F2018 Unres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F2019 DT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F2018 DT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b="1" u="none" strike="noStrike" kern="1200" dirty="0">
                          <a:effectLst/>
                        </a:rPr>
                        <a:t>F2019 Data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b="1" u="none" strike="noStrike" kern="1200" dirty="0">
                          <a:effectLst/>
                        </a:rPr>
                        <a:t>F2018 Data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A/R - Margined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11.9%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5.0%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Blanket Lien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2.2%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3.9%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Commercial/Farm Properties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Fixed Assets/PP&amp;E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3.8%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3.6%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R/E Constr. Projects/ADS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2.9%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2.8%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Residential Real Estate- 1st Charge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3.0%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Unsecured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10.9%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53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00" y="836640"/>
            <a:ext cx="8785220" cy="5328740"/>
          </a:xfrm>
        </p:spPr>
        <p:txBody>
          <a:bodyPr/>
          <a:lstStyle/>
          <a:p>
            <a:r>
              <a:rPr lang="en-US" sz="1400" dirty="0"/>
              <a:t>The DT LGD is the realized LGD after unsolved, downturn, data uncertainty adjustment rounding to the nearest 5%.</a:t>
            </a:r>
          </a:p>
          <a:p>
            <a:r>
              <a:rPr lang="en-US" sz="1400" dirty="0"/>
              <a:t>For blanket liens, it’s proposed to apply a universal 40% DT LGD instead of sub-setting the group into two buckets, namely facilities with Assets &lt; 10MM and Assets &gt; 10MM.</a:t>
            </a:r>
          </a:p>
          <a:p>
            <a:r>
              <a:rPr lang="en-US" sz="1400" dirty="0"/>
              <a:t>Similar for </a:t>
            </a:r>
            <a:r>
              <a:rPr lang="en-US" sz="1400" dirty="0">
                <a:solidFill>
                  <a:srgbClr val="000000"/>
                </a:solidFill>
              </a:rPr>
              <a:t>Commercial/Farm Properties, due to the lack of data for non 1</a:t>
            </a:r>
            <a:r>
              <a:rPr lang="en-US" sz="1400" baseline="30000" dirty="0">
                <a:solidFill>
                  <a:srgbClr val="000000"/>
                </a:solidFill>
              </a:rPr>
              <a:t>st</a:t>
            </a:r>
            <a:r>
              <a:rPr lang="en-US" sz="1400" dirty="0">
                <a:solidFill>
                  <a:srgbClr val="000000"/>
                </a:solidFill>
              </a:rPr>
              <a:t> charge subset, it’s proposed to combine the 1</a:t>
            </a:r>
            <a:r>
              <a:rPr lang="en-US" sz="1400" baseline="30000" dirty="0">
                <a:solidFill>
                  <a:srgbClr val="000000"/>
                </a:solidFill>
              </a:rPr>
              <a:t>st</a:t>
            </a:r>
            <a:r>
              <a:rPr lang="en-US" sz="1400" dirty="0">
                <a:solidFill>
                  <a:srgbClr val="000000"/>
                </a:solidFill>
              </a:rPr>
              <a:t> charge and non 1</a:t>
            </a:r>
            <a:r>
              <a:rPr lang="en-US" sz="1400" baseline="30000" dirty="0">
                <a:solidFill>
                  <a:srgbClr val="000000"/>
                </a:solidFill>
              </a:rPr>
              <a:t>st</a:t>
            </a:r>
            <a:r>
              <a:rPr lang="en-US" sz="1400" dirty="0">
                <a:solidFill>
                  <a:srgbClr val="000000"/>
                </a:solidFill>
              </a:rPr>
              <a:t> charge together and apply 50% DT LGD for both groups.</a:t>
            </a:r>
            <a:endParaRPr lang="en-US" sz="1400" dirty="0"/>
          </a:p>
          <a:p>
            <a:r>
              <a:rPr lang="en-US" sz="1400" dirty="0"/>
              <a:t>To maintain an intuitive ranking order, the 20% judgment overlay is added for fixed assets/PP&amp;E collateral group and final proposed DT LGD is 45%.</a:t>
            </a:r>
          </a:p>
          <a:p>
            <a:pPr fontAlgn="b"/>
            <a:r>
              <a:rPr lang="en-US" sz="1400" dirty="0"/>
              <a:t>For </a:t>
            </a:r>
            <a:r>
              <a:rPr lang="en-US" sz="1400" dirty="0">
                <a:solidFill>
                  <a:srgbClr val="000000"/>
                </a:solidFill>
              </a:rPr>
              <a:t>R/E Constr. Projects/ADS, a 5% judgement overlay is applied so that the DT LGD is 5% higher than Residential Real Estate- 1st Charge</a:t>
            </a:r>
          </a:p>
          <a:p>
            <a:pPr fontAlgn="b"/>
            <a:endParaRPr lang="en-US" sz="1600" dirty="0">
              <a:solidFill>
                <a:srgbClr val="000000"/>
              </a:solidFill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14963"/>
              </p:ext>
            </p:extLst>
          </p:nvPr>
        </p:nvGraphicFramePr>
        <p:xfrm>
          <a:off x="323410" y="3501010"/>
          <a:ext cx="8458198" cy="184150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79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50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19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Primary Collateral Type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Realized LGD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Unresolved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DT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ata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Uncertainty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Adjustment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 DT LGD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F2019 DT W Judgement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F2018 DT W Judgement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F2019-F2018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A/R - Margined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17.4%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54.5%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Blanket Lien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143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18.1%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40.2%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35%/45%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Commercial/Farm Properties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412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0.6%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51.7%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55%/60%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Fixed Assets/PP&amp;E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26.7%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25%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R/E Constr. Projects/ADS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162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47.8%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53.0%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60%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Residential Real Estate- 1st Charge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43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45.0%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8.2%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56.8%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Unsecured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47.6% 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10.9%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18.4%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66.0%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5676" marR="5676" marT="5676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8F4665D4-8FB1-428B-88F2-98CA88D9AD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200" b="0" dirty="0">
                <a:solidFill>
                  <a:srgbClr val="166AB0"/>
                </a:solidFill>
                <a:latin typeface="Dax-Medium"/>
              </a:rPr>
              <a:t>Final Calibration Result</a:t>
            </a:r>
            <a:endParaRPr lang="en-CA" altLang="en-US" sz="2200" b="0" dirty="0">
              <a:solidFill>
                <a:srgbClr val="166AB0"/>
              </a:solidFill>
              <a:latin typeface="Dax-Medium"/>
            </a:endParaRPr>
          </a:p>
        </p:txBody>
      </p:sp>
    </p:spTree>
    <p:extLst>
      <p:ext uri="{BB962C8B-B14F-4D97-AF65-F5344CB8AC3E}">
        <p14:creationId xmlns:p14="http://schemas.microsoft.com/office/powerpoint/2010/main" val="2458995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00" y="692620"/>
            <a:ext cx="8229600" cy="5250980"/>
          </a:xfrm>
        </p:spPr>
        <p:txBody>
          <a:bodyPr/>
          <a:lstStyle/>
          <a:p>
            <a:r>
              <a:rPr lang="en-US" sz="1100" dirty="0"/>
              <a:t>For IFRS9 and EL purposes, the unadjusted LGD factors are calibrated based on regression approach.</a:t>
            </a:r>
          </a:p>
          <a:p>
            <a:r>
              <a:rPr lang="en-US" sz="1100" dirty="0"/>
              <a:t>The ELGD with 5% discount rate (dependent variable) is regressed by ELGD with 10% discount (independent variable). The function is </a:t>
            </a:r>
          </a:p>
          <a:p>
            <a:pPr marL="0" indent="0">
              <a:buNone/>
            </a:pPr>
            <a:r>
              <a:rPr lang="en-US" sz="1100" dirty="0"/>
              <a:t>		</a:t>
            </a:r>
            <a:r>
              <a:rPr lang="en-US" sz="1100" b="1" dirty="0"/>
              <a:t>ELGD (5% discount rate) = -2.9% + 0.89 * ELGD (10% discount rate)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r>
              <a:rPr lang="en-US" sz="1100" dirty="0"/>
              <a:t>The formula will be applied to </a:t>
            </a:r>
            <a:r>
              <a:rPr lang="en-US" sz="1100" u="sng" dirty="0"/>
              <a:t>LR LGD </a:t>
            </a:r>
            <a:r>
              <a:rPr lang="en-US" sz="1100" dirty="0"/>
              <a:t>to arrive at </a:t>
            </a:r>
            <a:r>
              <a:rPr lang="en-US" sz="1100" u="sng" dirty="0"/>
              <a:t>Unadjusted LGD</a:t>
            </a:r>
            <a:r>
              <a:rPr lang="en-US" sz="1100" dirty="0"/>
              <a:t>. </a:t>
            </a:r>
          </a:p>
          <a:p>
            <a:r>
              <a:rPr lang="en-CA" sz="1100" dirty="0"/>
              <a:t>Unadjusted LGD factor for unsecured and Secured no lending value will be kept same as LR LGD factor.</a:t>
            </a:r>
            <a:endParaRPr lang="en-US" sz="11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7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E13C0-525B-42C9-AFCB-31805DA4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70" y="2924930"/>
            <a:ext cx="3560847" cy="2746939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C6BBA0C-E911-4C96-BDE2-910E5E395BA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" y="140951"/>
            <a:ext cx="8229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66AB0"/>
              </a:buClr>
              <a:buFont typeface="Wingdings" pitchFamily="2" charset="2"/>
              <a:buChar char="m"/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200" b="0" dirty="0">
                <a:solidFill>
                  <a:srgbClr val="166AB0"/>
                </a:solidFill>
                <a:latin typeface="Dax-Medium"/>
              </a:rPr>
              <a:t>LR and Unadjusted LGD factors</a:t>
            </a:r>
            <a:endParaRPr lang="en-CA" altLang="en-US" sz="2200" b="0" dirty="0">
              <a:solidFill>
                <a:srgbClr val="166AB0"/>
              </a:solidFill>
              <a:latin typeface="Dax-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D7CFD-4C48-4B45-845B-488314A99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20" y="1327801"/>
            <a:ext cx="3116890" cy="85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5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110113</TotalTime>
  <Words>1345</Words>
  <Application>Microsoft Office PowerPoint</Application>
  <PresentationFormat>On-screen Show (4:3)</PresentationFormat>
  <Paragraphs>391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Dax-Medium</vt:lpstr>
      <vt:lpstr>Dax-Regular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Full Motion Graphics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lkjhkljlhjhghgjhgQ1</dc:title>
  <dc:creator>Robert Murphy</dc:creator>
  <cp:lastModifiedBy>Harry Li</cp:lastModifiedBy>
  <cp:revision>2919</cp:revision>
  <cp:lastPrinted>2017-03-07T19:16:55Z</cp:lastPrinted>
  <dcterms:created xsi:type="dcterms:W3CDTF">2007-01-17T03:41:45Z</dcterms:created>
  <dcterms:modified xsi:type="dcterms:W3CDTF">2020-04-17T21:19:12Z</dcterms:modified>
</cp:coreProperties>
</file>