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417" r:id="rId5"/>
    <p:sldId id="432" r:id="rId6"/>
    <p:sldId id="435" r:id="rId7"/>
    <p:sldId id="427" r:id="rId8"/>
    <p:sldId id="433" r:id="rId9"/>
    <p:sldId id="434" r:id="rId10"/>
    <p:sldId id="431" r:id="rId11"/>
    <p:sldId id="425" r:id="rId12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, Harry" initials="L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D1C24"/>
    <a:srgbClr val="FF00FF"/>
    <a:srgbClr val="FF99FF"/>
    <a:srgbClr val="99FF66"/>
    <a:srgbClr val="0079C1"/>
    <a:srgbClr val="6E6E6E"/>
    <a:srgbClr val="C8C8C8"/>
    <a:srgbClr val="CCE4F3"/>
    <a:srgbClr val="99C9E6"/>
    <a:srgbClr val="66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72" autoAdjust="0"/>
    <p:restoredTop sz="94842" autoAdjust="0"/>
  </p:normalViewPr>
  <p:slideViewPr>
    <p:cSldViewPr snapToObjects="1">
      <p:cViewPr varScale="1">
        <p:scale>
          <a:sx n="86" d="100"/>
          <a:sy n="86" d="100"/>
        </p:scale>
        <p:origin x="158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C078DB2-3BD9-A64E-9A59-E5BDFD1A272F}" type="datetimeFigureOut">
              <a:rPr lang="en-US" smtClean="0"/>
              <a:t>3/26/2020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A511CDE-9E68-3F49-A9B0-24A9A5FD92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28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C54BC96-B594-BD41-B8AB-96745BE59FB8}" type="datetimeFigureOut">
              <a:rPr lang="en-US" smtClean="0"/>
              <a:t>3/26/2020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040601-F34C-A840-B24C-52E51A825D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5542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MOFG_EN_cov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8229600" cy="1523999"/>
          </a:xfrm>
        </p:spPr>
        <p:txBody>
          <a:bodyPr anchor="b" anchorCtr="0"/>
          <a:lstStyle>
            <a:lvl1pPr>
              <a:defRPr sz="4200" b="0">
                <a:solidFill>
                  <a:srgbClr val="0079C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52799"/>
            <a:ext cx="5943600" cy="83820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Line 19"/>
          <p:cNvSpPr>
            <a:spLocks noChangeShapeType="1"/>
          </p:cNvSpPr>
          <p:nvPr userDrawn="1"/>
        </p:nvSpPr>
        <p:spPr bwMode="auto">
          <a:xfrm>
            <a:off x="457200" y="3048000"/>
            <a:ext cx="8229600" cy="0"/>
          </a:xfrm>
          <a:prstGeom prst="line">
            <a:avLst/>
          </a:prstGeom>
          <a:noFill/>
          <a:ln w="9525">
            <a:solidFill>
              <a:srgbClr val="CACAC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11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E_6_Save4Web_Maximu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87696"/>
          </a:xfrm>
          <a:prstGeom prst="rect">
            <a:avLst/>
          </a:prstGeom>
        </p:spPr>
      </p:pic>
      <p:sp>
        <p:nvSpPr>
          <p:cNvPr id="7" name="Oval 6"/>
          <p:cNvSpPr/>
          <p:nvPr userDrawn="1"/>
        </p:nvSpPr>
        <p:spPr>
          <a:xfrm>
            <a:off x="4038600" y="2626112"/>
            <a:ext cx="3429000" cy="3429000"/>
          </a:xfrm>
          <a:prstGeom prst="ellipse">
            <a:avLst/>
          </a:prstGeom>
          <a:solidFill>
            <a:srgbClr val="0079C1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BMOFG_EN_cove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468901" y="288832"/>
            <a:ext cx="4587968" cy="4587968"/>
            <a:chOff x="-304800" y="288832"/>
            <a:chExt cx="4587968" cy="4587968"/>
          </a:xfrm>
        </p:grpSpPr>
        <p:sp>
          <p:nvSpPr>
            <p:cNvPr id="9" name="Oval 8"/>
            <p:cNvSpPr/>
            <p:nvPr userDrawn="1"/>
          </p:nvSpPr>
          <p:spPr>
            <a:xfrm>
              <a:off x="-238054" y="370275"/>
              <a:ext cx="4419600" cy="4419600"/>
            </a:xfrm>
            <a:prstGeom prst="ellipse">
              <a:avLst/>
            </a:prstGeom>
            <a:solidFill>
              <a:srgbClr val="ED1C24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 userDrawn="1"/>
          </p:nvSpPr>
          <p:spPr>
            <a:xfrm>
              <a:off x="-304800" y="288832"/>
              <a:ext cx="4587968" cy="4587968"/>
            </a:xfrm>
            <a:prstGeom prst="ellipse">
              <a:avLst/>
            </a:prstGeom>
            <a:no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219201"/>
            <a:ext cx="3124199" cy="2666999"/>
          </a:xfrm>
        </p:spPr>
        <p:txBody>
          <a:bodyPr/>
          <a:lstStyle>
            <a:lvl1pPr>
              <a:defRPr sz="3200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5057" y="3733799"/>
            <a:ext cx="2219254" cy="914401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1219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irl_5_Save4Web_High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81600"/>
          </a:xfrm>
          <a:prstGeom prst="rect">
            <a:avLst/>
          </a:prstGeom>
        </p:spPr>
      </p:pic>
      <p:pic>
        <p:nvPicPr>
          <p:cNvPr id="12" name="Picture 11" descr="BMOFG_EN_cove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7216"/>
            <a:ext cx="9144000" cy="1700784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-304800" y="288832"/>
            <a:ext cx="4587968" cy="4587968"/>
            <a:chOff x="-304800" y="288832"/>
            <a:chExt cx="4587968" cy="4587968"/>
          </a:xfrm>
        </p:grpSpPr>
        <p:sp>
          <p:nvSpPr>
            <p:cNvPr id="9" name="Oval 8"/>
            <p:cNvSpPr/>
            <p:nvPr userDrawn="1"/>
          </p:nvSpPr>
          <p:spPr>
            <a:xfrm>
              <a:off x="-238054" y="370275"/>
              <a:ext cx="4419600" cy="4419600"/>
            </a:xfrm>
            <a:prstGeom prst="ellipse">
              <a:avLst/>
            </a:prstGeom>
            <a:solidFill>
              <a:srgbClr val="ED1C24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/>
            <p:cNvSpPr/>
            <p:nvPr userDrawn="1"/>
          </p:nvSpPr>
          <p:spPr>
            <a:xfrm>
              <a:off x="-304800" y="288832"/>
              <a:ext cx="4587968" cy="4587968"/>
            </a:xfrm>
            <a:prstGeom prst="ellipse">
              <a:avLst/>
            </a:prstGeom>
            <a:noFill/>
            <a:ln w="12700" cmpd="sng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219201"/>
            <a:ext cx="3124199" cy="1981200"/>
          </a:xfrm>
        </p:spPr>
        <p:txBody>
          <a:bodyPr/>
          <a:lstStyle>
            <a:lvl1pPr>
              <a:defRPr sz="3200" b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52799"/>
            <a:ext cx="3124200" cy="6095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5854700"/>
            <a:ext cx="2286000" cy="50165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0" y="6248400"/>
            <a:ext cx="3657600" cy="609600"/>
          </a:xfrm>
        </p:spPr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2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arge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7" name="Picture 6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85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rge 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3962400" cy="49831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724400" y="1144710"/>
            <a:ext cx="3962400" cy="49831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1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mall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1" name="Picture 10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5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2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3962400" cy="4983163"/>
          </a:xfrm>
        </p:spPr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713944" y="1143000"/>
            <a:ext cx="3962400" cy="4983163"/>
          </a:xfrm>
        </p:spPr>
        <p:txBody>
          <a:bodyPr/>
          <a:lstStyle>
            <a:lvl1pPr>
              <a:spcBef>
                <a:spcPts val="700"/>
              </a:spcBef>
              <a:defRPr sz="1400"/>
            </a:lvl1pPr>
            <a:lvl2pPr>
              <a:spcBef>
                <a:spcPts val="600"/>
              </a:spcBef>
              <a:defRPr sz="1200"/>
            </a:lvl2pPr>
            <a:lvl3pPr>
              <a:spcBef>
                <a:spcPts val="600"/>
              </a:spcBef>
              <a:defRPr sz="1200"/>
            </a:lvl3pPr>
            <a:lvl4pPr>
              <a:spcBef>
                <a:spcPts val="600"/>
              </a:spcBef>
              <a:defRPr sz="1200"/>
            </a:lvl4pPr>
            <a:lvl5pPr>
              <a:spcBef>
                <a:spcPts val="6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9C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Arial"/>
              <a:buNone/>
              <a:defRPr sz="1000"/>
            </a:lvl1pPr>
            <a:lvl2pPr marL="0" indent="0">
              <a:spcBef>
                <a:spcPts val="1000"/>
              </a:spcBef>
              <a:buNone/>
              <a:defRPr sz="1000"/>
            </a:lvl2pPr>
            <a:lvl3pPr marL="0" indent="0">
              <a:spcBef>
                <a:spcPts val="1000"/>
              </a:spcBef>
              <a:buNone/>
              <a:defRPr sz="1000"/>
            </a:lvl3pPr>
            <a:lvl4pPr marL="0" indent="0">
              <a:spcBef>
                <a:spcPts val="1000"/>
              </a:spcBef>
              <a:buNone/>
              <a:defRPr sz="1000"/>
            </a:lvl4pPr>
            <a:lvl5pPr marL="0" indent="0">
              <a:spcBef>
                <a:spcPts val="1000"/>
              </a:spcBef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Line 19"/>
          <p:cNvSpPr>
            <a:spLocks noChangeShapeType="1"/>
          </p:cNvSpPr>
          <p:nvPr userDrawn="1"/>
        </p:nvSpPr>
        <p:spPr bwMode="auto">
          <a:xfrm>
            <a:off x="457200" y="6248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9"/>
          <p:cNvSpPr>
            <a:spLocks noChangeShapeType="1"/>
          </p:cNvSpPr>
          <p:nvPr userDrawn="1"/>
        </p:nvSpPr>
        <p:spPr bwMode="auto"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8C8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8" descr="BMOFG_EN_footer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62070"/>
            <a:ext cx="1600200" cy="36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58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0" y="6248400"/>
            <a:ext cx="457200" cy="609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/>
              </a:defRPr>
            </a:lvl1pPr>
          </a:lstStyle>
          <a:p>
            <a:fld id="{86AB923B-19CD-554A-A7CB-5C782A182C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248400"/>
            <a:ext cx="3657600" cy="609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Arial"/>
              </a:defRPr>
            </a:lvl1pPr>
          </a:lstStyle>
          <a:p>
            <a:r>
              <a:rPr lang="en-US" dirty="0"/>
              <a:t>Footer goes here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514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1" r:id="rId2"/>
    <p:sldLayoutId id="2147483649" r:id="rId3"/>
    <p:sldLayoutId id="2147483650" r:id="rId4"/>
    <p:sldLayoutId id="2147483654" r:id="rId5"/>
    <p:sldLayoutId id="2147483653" r:id="rId6"/>
    <p:sldLayoutId id="2147483655" r:id="rId7"/>
    <p:sldLayoutId id="2147483656" r:id="rId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rgbClr val="0079C1"/>
          </a:solidFill>
          <a:latin typeface="Arial"/>
          <a:ea typeface="+mj-ea"/>
          <a:cs typeface="Arial"/>
        </a:defRPr>
      </a:lvl1pPr>
    </p:titleStyle>
    <p:bodyStyle>
      <a:lvl1pPr marL="225425" indent="-225425" algn="l" defTabSz="457200" rtl="0" eaLnBrk="1" latinLnBrk="0" hangingPunct="1"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1pPr>
      <a:lvl2pPr marL="458788" indent="-233363" algn="l" defTabSz="457200" rtl="0" eaLnBrk="1" latinLnBrk="0" hangingPunct="1">
        <a:spcBef>
          <a:spcPts val="8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2pPr>
      <a:lvl3pPr marL="684213" indent="-225425" algn="l" defTabSz="457200" rtl="0" eaLnBrk="1" latinLnBrk="0" hangingPunct="1">
        <a:spcBef>
          <a:spcPts val="8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3pPr>
      <a:lvl4pPr marL="917575" indent="-233363" algn="l" defTabSz="457200" rtl="0" eaLnBrk="1" latinLnBrk="0" hangingPunct="1">
        <a:spcBef>
          <a:spcPts val="8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1143000" indent="-225425" algn="l" defTabSz="457200" rtl="0" eaLnBrk="1" latinLnBrk="0" hangingPunct="1">
        <a:spcBef>
          <a:spcPts val="8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CN" dirty="0"/>
              <a:t>Use 70% - 110% LV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sz="1400" dirty="0"/>
              <a:t>Total counts increase from 955 to 1,263 (32% more).</a:t>
            </a:r>
          </a:p>
          <a:p>
            <a:r>
              <a:rPr lang="en-US" sz="1400" dirty="0"/>
              <a:t>Impacted collateral: </a:t>
            </a:r>
          </a:p>
          <a:p>
            <a:pPr lvl="1"/>
            <a:r>
              <a:rPr lang="en-US" sz="1100" dirty="0"/>
              <a:t>Commercial/Farm Properties: -3.1%</a:t>
            </a:r>
          </a:p>
          <a:p>
            <a:pPr lvl="1"/>
            <a:r>
              <a:rPr lang="en-US" sz="1100" dirty="0"/>
              <a:t>Unsecured: -3.7%</a:t>
            </a:r>
          </a:p>
          <a:p>
            <a:pPr lvl="1"/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5DA1BE-DBD8-42FA-AEA2-34CD70A6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14600"/>
            <a:ext cx="6096000" cy="338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74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Relative Adjustment Factors </a:t>
            </a:r>
            <a:r>
              <a:rPr lang="en-US" altLang="zh-CN" dirty="0"/>
              <a:t>– R</a:t>
            </a:r>
            <a:r>
              <a:rPr lang="en-CA" altLang="zh-CN" dirty="0"/>
              <a:t>egression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sz="1600" dirty="0"/>
              <a:t>Regression is ran on raw_elgd_05  with raw_elgd_10.</a:t>
            </a:r>
          </a:p>
          <a:p>
            <a:r>
              <a:rPr lang="en-US" sz="1600" dirty="0"/>
              <a:t>raw_elgd_05 = -0.2%+0.85 * raw_elgd_10</a:t>
            </a:r>
          </a:p>
          <a:p>
            <a:r>
              <a:rPr lang="en-US" sz="1600" dirty="0"/>
              <a:t>This is equivalent to 15% discount.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8D760-2494-454D-9E50-8FFE28DA4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1" y="2195858"/>
            <a:ext cx="3429000" cy="343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5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Relative Adjustment Factors </a:t>
            </a:r>
            <a:r>
              <a:rPr lang="en-US" altLang="zh-CN" dirty="0"/>
              <a:t>– </a:t>
            </a:r>
            <a:r>
              <a:rPr lang="en-CA" altLang="zh-CN" dirty="0"/>
              <a:t>Simple average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2"/>
            <a:ext cx="8229600" cy="5181598"/>
          </a:xfrm>
        </p:spPr>
        <p:txBody>
          <a:bodyPr/>
          <a:lstStyle/>
          <a:p>
            <a:r>
              <a:rPr lang="en-US" sz="1050" dirty="0"/>
              <a:t>Facilities are grouped by collateral type and raw_elgd_05 for each collateral type is calculated using simple average.</a:t>
            </a:r>
          </a:p>
          <a:p>
            <a:r>
              <a:rPr lang="en-US" sz="1050" dirty="0"/>
              <a:t>collateral type with more than 15 counts are highlighted.</a:t>
            </a:r>
          </a:p>
          <a:p>
            <a:r>
              <a:rPr lang="en-US" sz="1050" dirty="0"/>
              <a:t>Ranking orders are not intuitive for some collateral types, i.e. A/R margined vs. Not margined. Unsecured vs. RE ADS.</a:t>
            </a:r>
          </a:p>
          <a:p>
            <a:r>
              <a:rPr lang="en-US" sz="1050" dirty="0"/>
              <a:t>Judgement needs to be applied for those don’t have sufficient count.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CDCEB0-272B-4883-808E-11EE2F08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133976"/>
              </p:ext>
            </p:extLst>
          </p:nvPr>
        </p:nvGraphicFramePr>
        <p:xfrm>
          <a:off x="595313" y="2113537"/>
          <a:ext cx="4052886" cy="4096763"/>
        </p:xfrm>
        <a:graphic>
          <a:graphicData uri="http://schemas.openxmlformats.org/drawingml/2006/table">
            <a:tbl>
              <a:tblPr/>
              <a:tblGrid>
                <a:gridCol w="3063107">
                  <a:extLst>
                    <a:ext uri="{9D8B030D-6E8A-4147-A177-3AD203B41FA5}">
                      <a16:colId xmlns:a16="http://schemas.microsoft.com/office/drawing/2014/main" val="268510479"/>
                    </a:ext>
                  </a:extLst>
                </a:gridCol>
                <a:gridCol w="448005">
                  <a:extLst>
                    <a:ext uri="{9D8B030D-6E8A-4147-A177-3AD203B41FA5}">
                      <a16:colId xmlns:a16="http://schemas.microsoft.com/office/drawing/2014/main" val="263748453"/>
                    </a:ext>
                  </a:extLst>
                </a:gridCol>
                <a:gridCol w="541774">
                  <a:extLst>
                    <a:ext uri="{9D8B030D-6E8A-4147-A177-3AD203B41FA5}">
                      <a16:colId xmlns:a16="http://schemas.microsoft.com/office/drawing/2014/main" val="1234576845"/>
                    </a:ext>
                  </a:extLst>
                </a:gridCol>
              </a:tblGrid>
              <a:tr h="29873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primary_collateral_bl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N Obs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112277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243783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A/R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3670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A/R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58113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Agriculture Livestock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20.4%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970617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Agriculture Livestock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02555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Blanket Lien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183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1703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Cash Equivalent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14.3%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28212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Commercial/Farm Properties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1115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88568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Crop Production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8862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Crops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900333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Fixed Assets/PP&amp;E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1159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Government Guaranteed Loans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39.9%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7172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12266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Inventories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03642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Marketable Securities - Not Margined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37.4%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45411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 LC - Developer (Standalone)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797099"/>
                  </a:ext>
                </a:extLst>
              </a:tr>
              <a:tr h="298734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Performance LC - Developer (with Shared Construction Collateral)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48.8%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785491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Shares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45440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R/E Constr. Projects/ADS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37.3%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42719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Estate- 1st Charge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220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28.2%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137666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Residential Real Estate- Other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26.0%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95825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Secured No Lending Value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85584"/>
                  </a:ext>
                </a:extLst>
              </a:tr>
              <a:tr h="151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Unsecured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35.6%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219708"/>
                  </a:ext>
                </a:extLst>
              </a:tr>
              <a:tr h="166662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</a:t>
                      </a:r>
                    </a:p>
                  </a:txBody>
                  <a:tcPr marL="5443" marR="5443" marT="5443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2343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443" marR="5443" marT="544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7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30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F2019 Recalibration – With Pre-Conversion M&amp;I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Calibrations scope: </a:t>
            </a:r>
          </a:p>
          <a:p>
            <a:pPr marL="225425" lvl="1" indent="0">
              <a:buNone/>
            </a:pPr>
            <a:r>
              <a:rPr lang="en-US" sz="1400" dirty="0"/>
              <a:t>Q4F19 Performance Monitoring Dataset  + F2017 M&amp;I post-conversion facilities</a:t>
            </a:r>
          </a:p>
          <a:p>
            <a:pPr marL="225425" lvl="1" indent="0">
              <a:buNone/>
            </a:pPr>
            <a:endParaRPr lang="en-US" sz="14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pPr marL="0" lvl="1" indent="0">
              <a:spcBef>
                <a:spcPts val="1000"/>
              </a:spcBef>
              <a:buNone/>
            </a:pPr>
            <a:endParaRPr lang="en-US" sz="1800" dirty="0"/>
          </a:p>
          <a:p>
            <a:pPr marL="225425" lvl="1" indent="-225425">
              <a:spcBef>
                <a:spcPts val="1000"/>
              </a:spcBef>
              <a:buFont typeface="Arial"/>
              <a:buChar char="•"/>
            </a:pPr>
            <a:endParaRPr lang="en-US" sz="12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075140"/>
          <a:ext cx="4724401" cy="183722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074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Add/Exclusion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</a:rPr>
                        <a:t>Total facilities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4,331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8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BSM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-1,548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2,783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-55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2,728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Dealer Finance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-31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2,697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39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M&amp;I Pre-conversion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US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4,435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5125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M&amp;I Pre-Conversion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5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8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Calibration </a:t>
            </a:r>
            <a:r>
              <a:rPr lang="en-CA" altLang="zh-CN" dirty="0"/>
              <a:t>Result – Unadjusted LR LGD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Relative adjustment factor</a:t>
            </a:r>
          </a:p>
          <a:p>
            <a:r>
              <a:rPr lang="en-US" sz="1600" dirty="0"/>
              <a:t>The factor is used to scale the LR factor to reach the unadjusted LR factor.</a:t>
            </a:r>
          </a:p>
          <a:p>
            <a:r>
              <a:rPr lang="en-US" sz="1600" dirty="0"/>
              <a:t>This is determined by the relative difference of average ELGD with 10% discount rate vs. 5% discount rate. </a:t>
            </a:r>
          </a:p>
          <a:p>
            <a:pPr lvl="1"/>
            <a:r>
              <a:rPr lang="en-US" sz="1200" dirty="0"/>
              <a:t>As of F2018, the factor is 10%. </a:t>
            </a:r>
          </a:p>
          <a:p>
            <a:pPr lvl="1"/>
            <a:r>
              <a:rPr lang="en-US" sz="1200" dirty="0"/>
              <a:t>As of F2019, the factor is 20%.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u="sng" dirty="0"/>
              <a:t>Recommendation</a:t>
            </a:r>
            <a:r>
              <a:rPr lang="en-US" sz="1600" dirty="0"/>
              <a:t>: </a:t>
            </a:r>
          </a:p>
          <a:p>
            <a:r>
              <a:rPr lang="en-US" sz="1600" dirty="0"/>
              <a:t>Align the factor with F2018 10% </a:t>
            </a:r>
          </a:p>
          <a:p>
            <a:r>
              <a:rPr lang="en-US" sz="1600" dirty="0"/>
              <a:t>Remove the adjustment factor given the lower LR LGD factor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6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C1ECBEC-1C2C-47CE-8593-F91562D4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713" y="3132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957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altLang="zh-CN" dirty="0"/>
              <a:t>pdate</a:t>
            </a:r>
            <a:r>
              <a:rPr lang="en-CA" altLang="zh-CN" dirty="0"/>
              <a:t> Since Last Touchpoint – 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/>
          <a:lstStyle/>
          <a:p>
            <a:r>
              <a:rPr lang="en-US" dirty="0"/>
              <a:t>Documentation</a:t>
            </a:r>
          </a:p>
          <a:p>
            <a:pPr lvl="1"/>
            <a:r>
              <a:rPr lang="en-US" sz="1000" dirty="0"/>
              <a:t>Section 3 Data : data section is done pending on M&amp;I pre-conversion.</a:t>
            </a:r>
          </a:p>
          <a:p>
            <a:pPr lvl="2"/>
            <a:r>
              <a:rPr lang="en-US" sz="1000" dirty="0"/>
              <a:t>Section 3.7 - Data Representativeness and Quality: the reassessment will be performed in model revalidation (June 2020)</a:t>
            </a:r>
          </a:p>
          <a:p>
            <a:pPr lvl="1"/>
            <a:r>
              <a:rPr lang="en-US" sz="1000" dirty="0"/>
              <a:t>Section 4 Model Development and Testing: this is almost done</a:t>
            </a:r>
          </a:p>
          <a:p>
            <a:pPr lvl="2"/>
            <a:r>
              <a:rPr lang="en-US" sz="1000" dirty="0"/>
              <a:t>Section 4.4.1 Discussion of Candidate Variables : same variables are used as last development since there is no change on methodology. The reassessment will be performed in model revalidation (June 2020)</a:t>
            </a:r>
            <a:endParaRPr lang="en-US" sz="800" dirty="0"/>
          </a:p>
          <a:p>
            <a:pPr lvl="1"/>
            <a:r>
              <a:rPr lang="en-US" sz="1000" dirty="0"/>
              <a:t>TF calibration will be incorporated into CA commercial LGD Recalibration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79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Appendix: F2019 vs. F2018 Adjustment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800" dirty="0"/>
          </a:p>
          <a:p>
            <a:endParaRPr lang="en-US" sz="1800" dirty="0"/>
          </a:p>
          <a:p>
            <a:pPr lvl="1"/>
            <a:endParaRPr lang="en-US" sz="1400" dirty="0"/>
          </a:p>
          <a:p>
            <a:pPr lvl="2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lvl="1"/>
            <a:endParaRPr lang="en-CA" sz="1400" dirty="0"/>
          </a:p>
          <a:p>
            <a:pPr marL="458788" lvl="2" indent="0">
              <a:buNone/>
            </a:pPr>
            <a:endParaRPr lang="en-CA" sz="1400" dirty="0"/>
          </a:p>
          <a:p>
            <a:pPr lvl="2"/>
            <a:endParaRPr lang="en-CA" sz="1400" dirty="0"/>
          </a:p>
          <a:p>
            <a:pPr marL="225425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B923B-19CD-554A-A7CB-5C782A182CEF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66800"/>
          <a:ext cx="7086600" cy="222947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99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70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Primary Collateral Group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Unres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F2019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F2018 DT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F2019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b="1" u="none" strike="noStrike" kern="1200" dirty="0">
                          <a:effectLst/>
                        </a:rPr>
                        <a:t>F2018 Data</a:t>
                      </a:r>
                      <a:endParaRPr lang="en-US" sz="1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A/R - Margined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11.9%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6.6%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Blanket Lien (Assets &gt;= 10MM)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8.2%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>
                          <a:effectLst/>
                        </a:rPr>
                        <a:t>2.7%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3.9%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Commercial/Farm Properties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7.5%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1.5%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Fixed Assets/PP&amp;E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4.3%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4.1%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R/E Constr. Projects/ADS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2.3%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3.5%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2.8%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Residential Real Estate- 1st Charge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8.2%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6.6%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>
                          <a:effectLst/>
                        </a:rPr>
                        <a:t>4.2%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3.0%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732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effectLst/>
                        </a:rPr>
                        <a:t>Unsecured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10.9%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2.7%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>
                          <a:effectLst/>
                        </a:rPr>
                        <a:t>5.7%</a:t>
                      </a:r>
                      <a:endParaRPr lang="en-US" sz="1400" b="0" i="0" u="none" strike="noStrike" kern="120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en-US" sz="1400" u="none" strike="noStrike" kern="1200" dirty="0">
                          <a:effectLst/>
                        </a:rPr>
                        <a:t>5.1%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08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9C1"/>
        </a:solidFill>
        <a:ln>
          <a:noFill/>
        </a:ln>
        <a:effectLst/>
      </a:spPr>
      <a:bodyPr lIns="0" tIns="0" rIns="0" bIns="0"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spcBef>
            <a:spcPts val="1000"/>
          </a:spcBef>
          <a:defRPr sz="20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MOFinancialGroup_En.potx" id="{6472DAB2-0AFD-4D8B-B753-8A8EBA257155}" vid="{2042CAE6-A444-434B-9227-BF782B8828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0D0453BBB50942B2FA986069C79B0C" ma:contentTypeVersion="0" ma:contentTypeDescription="Create a new document." ma:contentTypeScope="" ma:versionID="4974f6de6eb75fce95809ebc90fd60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CC4844-D348-42C4-90C0-6518BB65FB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3806D73-C72D-4FBD-A6C0-0719BB2183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BA9EE1-CAB8-4949-B4D9-C92DC20E6E7D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23897</TotalTime>
  <Words>725</Words>
  <Application>Microsoft Office PowerPoint</Application>
  <PresentationFormat>On-screen Show (4:3)</PresentationFormat>
  <Paragraphs>322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Use 70% - 110% LV </vt:lpstr>
      <vt:lpstr>Relative Adjustment Factors – Regression approach</vt:lpstr>
      <vt:lpstr>Relative Adjustment Factors – Simple average</vt:lpstr>
      <vt:lpstr>F2019 Recalibration – With Pre-Conversion M&amp;I</vt:lpstr>
      <vt:lpstr>M&amp;I Pre-Conversion</vt:lpstr>
      <vt:lpstr>Calibration Result – Unadjusted LR LGD</vt:lpstr>
      <vt:lpstr>Update Since Last Touchpoint – Documentation</vt:lpstr>
      <vt:lpstr> Appendix: F2019 vs. F2018 Adjustment </vt:lpstr>
    </vt:vector>
  </TitlesOfParts>
  <Company>Publicis Groupe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Wessinger</dc:creator>
  <cp:lastModifiedBy>Harry Li</cp:lastModifiedBy>
  <cp:revision>619</cp:revision>
  <cp:lastPrinted>2020-03-10T19:30:37Z</cp:lastPrinted>
  <dcterms:created xsi:type="dcterms:W3CDTF">2014-10-08T18:36:50Z</dcterms:created>
  <dcterms:modified xsi:type="dcterms:W3CDTF">2020-03-27T15:36:31Z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0x010100900D0453BBB50942B2FA986069C79B0C</vt:lpwstr>
  </property>
</Properties>
</file>